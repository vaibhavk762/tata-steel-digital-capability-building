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9" r:id="rId1"/>
  </p:sldMasterIdLst>
  <p:notesMasterIdLst>
    <p:notesMasterId r:id="rId11"/>
  </p:notesMasterIdLst>
  <p:sldIdLst>
    <p:sldId id="256" r:id="rId2"/>
    <p:sldId id="259" r:id="rId3"/>
    <p:sldId id="268" r:id="rId4"/>
    <p:sldId id="260" r:id="rId5"/>
    <p:sldId id="262" r:id="rId6"/>
    <p:sldId id="263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6F7724-E73A-49E6-8F3E-BF71EEFBB8D1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B66EF7-8091-485C-8AE2-2810343B9F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4607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B66EF7-8091-485C-8AE2-2810343B9F2E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95809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7543E-3671-422C-8552-F84A64AABBB8}" type="datetime1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B88AA-BC8C-4299-BEC9-8B6E84459602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4211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0ED28-244E-4EAA-8EBD-6808E30E395D}" type="datetime1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B88AA-BC8C-4299-BEC9-8B6E844596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611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4EBB4-EC5E-45F2-BD8F-ACF3EB7D33B4}" type="datetime1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B88AA-BC8C-4299-BEC9-8B6E84459602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737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13B93-F037-4ECE-AE9C-F3B13E5443A5}" type="datetime1">
              <a:rPr lang="en-IN" smtClean="0"/>
              <a:t>14-06-2026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B88AA-BC8C-4299-BEC9-8B6E844596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6260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B1F93-C0BB-42B6-858B-8646D732FDDD}" type="datetime1">
              <a:rPr lang="en-IN" smtClean="0"/>
              <a:t>14-06-2026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B88AA-BC8C-4299-BEC9-8B6E844596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7570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F6F4F-D881-46E2-8C0B-4079AEDB90AE}" type="datetime1">
              <a:rPr lang="en-IN" smtClean="0"/>
              <a:t>14-06-2026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B88AA-BC8C-4299-BEC9-8B6E844596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8630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55DCB-0469-4940-908F-FCA4DEE5EBA9}" type="datetime1">
              <a:rPr lang="en-IN" smtClean="0"/>
              <a:t>14-06-2026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B88AA-BC8C-4299-BEC9-8B6E844596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8922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7137D91-C7D6-429A-8E36-16C786796B59}" type="datetime1">
              <a:rPr lang="en-IN" smtClean="0"/>
              <a:t>14-06-2026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F6B88AA-BC8C-4299-BEC9-8B6E844596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0051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B6E14-B5F0-419C-A741-6030D8D0F889}" type="datetime1">
              <a:rPr lang="en-IN" smtClean="0"/>
              <a:t>14-06-2026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B88AA-BC8C-4299-BEC9-8B6E844596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3835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FE20F-BCC3-4B8A-A2C3-A845EA5EEEEB}" type="datetime1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B88AA-BC8C-4299-BEC9-8B6E844596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9880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82FFF-3FC3-488B-B920-CDFB63C355D3}" type="datetime1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B88AA-BC8C-4299-BEC9-8B6E844596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0240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04180FD-F739-46C7-B142-670D0420FBD4}" type="datetime1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F6B88AA-BC8C-4299-BEC9-8B6E84459602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1019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C08BF-A91F-75E2-EFBE-159AD513DB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Agents for Digital Capability Building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Tata Steel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A19BC8C-64E3-4259-8D92-8B02014DB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B88AA-BC8C-4299-BEC9-8B6E84459602}" type="slidenum">
              <a:rPr lang="en-IN" smtClean="0"/>
              <a:t>1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C82660-C1D4-D9EA-B81D-ED50E25C29A2}"/>
              </a:ext>
            </a:extLst>
          </p:cNvPr>
          <p:cNvSpPr txBox="1"/>
          <p:nvPr/>
        </p:nvSpPr>
        <p:spPr>
          <a:xfrm>
            <a:off x="3558484" y="4325112"/>
            <a:ext cx="51359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WEEK-1</a:t>
            </a:r>
          </a:p>
          <a:p>
            <a:pPr algn="ctr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Think like a consultant, not a coder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8D4C12-54AE-7421-C220-91DDEA69F0C7}"/>
              </a:ext>
            </a:extLst>
          </p:cNvPr>
          <p:cNvSpPr txBox="1"/>
          <p:nvPr/>
        </p:nvSpPr>
        <p:spPr>
          <a:xfrm>
            <a:off x="3891076" y="515354"/>
            <a:ext cx="4254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SUMMER INTERNSHIP - 2026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AEE8B9-98A0-D051-E901-3D174FEC98F9}"/>
              </a:ext>
            </a:extLst>
          </p:cNvPr>
          <p:cNvSpPr txBox="1"/>
          <p:nvPr/>
        </p:nvSpPr>
        <p:spPr>
          <a:xfrm>
            <a:off x="323520" y="5735637"/>
            <a:ext cx="30339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 Vaibhav Kumar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6B69E8-84D7-5A7F-D784-18DEFC7E2710}"/>
              </a:ext>
            </a:extLst>
          </p:cNvPr>
          <p:cNvSpPr txBox="1"/>
          <p:nvPr/>
        </p:nvSpPr>
        <p:spPr>
          <a:xfrm>
            <a:off x="4884771" y="5196498"/>
            <a:ext cx="24224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of: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Abhinav Anish</a:t>
            </a:r>
          </a:p>
        </p:txBody>
      </p:sp>
    </p:spTree>
    <p:extLst>
      <p:ext uri="{BB962C8B-B14F-4D97-AF65-F5344CB8AC3E}">
        <p14:creationId xmlns:p14="http://schemas.microsoft.com/office/powerpoint/2010/main" val="18392885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2FBC46-85CD-1C16-2917-A551B6CD0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B88AA-BC8C-4299-BEC9-8B6E84459602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2E41C6-70AB-06F8-5E95-8A2C3BF62D0E}"/>
              </a:ext>
            </a:extLst>
          </p:cNvPr>
          <p:cNvSpPr txBox="1"/>
          <p:nvPr/>
        </p:nvSpPr>
        <p:spPr>
          <a:xfrm>
            <a:off x="3531099" y="255639"/>
            <a:ext cx="51298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Current L&amp;D Environment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B0FD82-8ED9-7FF1-0A82-FA8B1B0A0872}"/>
              </a:ext>
            </a:extLst>
          </p:cNvPr>
          <p:cNvSpPr txBox="1"/>
          <p:nvPr/>
        </p:nvSpPr>
        <p:spPr>
          <a:xfrm>
            <a:off x="237973" y="1656408"/>
            <a:ext cx="11716054" cy="3366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Typical Responsibilities (L&amp;D)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skill gaps and design training programs to improve employee competencies and performance.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onboarding, technical, safety, compliance, and leadership development initiatives.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training effectiveness and support career growth, succession planning, and workforce capability development. 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Typical Programs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and role-specific skill development programs. (SAP/ERP training, AI workshops)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Safety, compliance, and onboarding training. (Safety certifications)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 and manager development programs, Graduate Engineer Trainee (GET), and digital/AI upskilling programs.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72FF16-8B50-01EF-5244-C6B1570E0B82}"/>
              </a:ext>
            </a:extLst>
          </p:cNvPr>
          <p:cNvSpPr txBox="1"/>
          <p:nvPr/>
        </p:nvSpPr>
        <p:spPr>
          <a:xfrm>
            <a:off x="886633" y="1010077"/>
            <a:ext cx="102051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large industrial companies such as Tata Steel, Tata Motors, Reliance Industries, or Larsen &amp; Toubro, L&amp;D usually stands for Learning and Development.</a:t>
            </a:r>
          </a:p>
        </p:txBody>
      </p:sp>
    </p:spTree>
    <p:extLst>
      <p:ext uri="{BB962C8B-B14F-4D97-AF65-F5344CB8AC3E}">
        <p14:creationId xmlns:p14="http://schemas.microsoft.com/office/powerpoint/2010/main" val="1911622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A1679B-F038-8D46-6CA7-A9EF02393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B88AA-BC8C-4299-BEC9-8B6E84459602}" type="slidenum">
              <a:rPr lang="en-IN" smtClean="0"/>
              <a:t>3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F0DE1D-165C-F71A-A317-2B69EDEA2719}"/>
              </a:ext>
            </a:extLst>
          </p:cNvPr>
          <p:cNvSpPr txBox="1"/>
          <p:nvPr/>
        </p:nvSpPr>
        <p:spPr>
          <a:xfrm>
            <a:off x="3431458" y="235974"/>
            <a:ext cx="50554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Current Industries L&amp;D Setup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E81BF80-0CAC-8915-C8AA-DB0599E447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9659163"/>
              </p:ext>
            </p:extLst>
          </p:nvPr>
        </p:nvGraphicFramePr>
        <p:xfrm>
          <a:off x="363793" y="1033161"/>
          <a:ext cx="11464413" cy="47916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21471">
                  <a:extLst>
                    <a:ext uri="{9D8B030D-6E8A-4147-A177-3AD203B41FA5}">
                      <a16:colId xmlns:a16="http://schemas.microsoft.com/office/drawing/2014/main" val="637599947"/>
                    </a:ext>
                  </a:extLst>
                </a:gridCol>
                <a:gridCol w="3821471">
                  <a:extLst>
                    <a:ext uri="{9D8B030D-6E8A-4147-A177-3AD203B41FA5}">
                      <a16:colId xmlns:a16="http://schemas.microsoft.com/office/drawing/2014/main" val="2448238808"/>
                    </a:ext>
                  </a:extLst>
                </a:gridCol>
                <a:gridCol w="3821471">
                  <a:extLst>
                    <a:ext uri="{9D8B030D-6E8A-4147-A177-3AD203B41FA5}">
                      <a16:colId xmlns:a16="http://schemas.microsoft.com/office/drawing/2014/main" val="3437242508"/>
                    </a:ext>
                  </a:extLst>
                </a:gridCol>
              </a:tblGrid>
              <a:tr h="585438">
                <a:tc>
                  <a:txBody>
                    <a:bodyPr/>
                    <a:lstStyle/>
                    <a:p>
                      <a:r>
                        <a:rPr lang="en-IN" dirty="0"/>
                        <a:t>Topic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Tata Steel Ltd.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Mahindra Group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5218289"/>
                  </a:ext>
                </a:extLst>
              </a:tr>
              <a:tr h="885581">
                <a:tc>
                  <a:txBody>
                    <a:bodyPr/>
                    <a:lstStyle/>
                    <a:p>
                      <a:r>
                        <a:rPr lang="en-IN" dirty="0"/>
                        <a:t>L&amp;D Focus Areas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Focus on technical, managerial, leadership, safety, and digital capability development through Tata Steel Academy, TMDC, and SNTI.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Focus on continuous learning, leadership development, future skills, and workforce transformation through competency-based learning frameworks.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8085742"/>
                  </a:ext>
                </a:extLst>
              </a:tr>
              <a:tr h="260928">
                <a:tc>
                  <a:txBody>
                    <a:bodyPr/>
                    <a:lstStyle/>
                    <a:p>
                      <a:r>
                        <a:rPr lang="en-IN" dirty="0"/>
                        <a:t>Learning 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Competency-based training, structured learning academies, blended learning (classroom + digital)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Competency frameworks, continuous learning culture, self-paced and role-based learning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1070456"/>
                  </a:ext>
                </a:extLst>
              </a:tr>
              <a:tr h="585438">
                <a:tc>
                  <a:txBody>
                    <a:bodyPr/>
                    <a:lstStyle/>
                    <a:p>
                      <a:r>
                        <a:rPr lang="en-IN" dirty="0"/>
                        <a:t>AI / Analytics Adoption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Focus on Industry 4.0 skills, digital capability building, analytics-driven workforce 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Learning analytics, personalized learning recommendations, data-driven talent development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2249608"/>
                  </a:ext>
                </a:extLst>
              </a:tr>
              <a:tr h="585438">
                <a:tc>
                  <a:txBody>
                    <a:bodyPr/>
                    <a:lstStyle/>
                    <a:p>
                      <a:r>
                        <a:rPr lang="en-IN" dirty="0"/>
                        <a:t>Digital Learning Platforms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Digie-Shala, Capability Development Portal, e-learning modules, classroom, lab-based and blended learning.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Enterprise Learning Experience Platform (LXP) promoting self-directed and continuous learning journeys.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60612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2017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9FB3CA-C145-8840-5FBB-C69FD620A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B88AA-BC8C-4299-BEC9-8B6E84459602}" type="slidenum">
              <a:rPr lang="en-IN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I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46542E-B019-B009-1394-6740AA96EC35}"/>
              </a:ext>
            </a:extLst>
          </p:cNvPr>
          <p:cNvSpPr txBox="1"/>
          <p:nvPr/>
        </p:nvSpPr>
        <p:spPr>
          <a:xfrm>
            <a:off x="7328361" y="4787927"/>
            <a:ext cx="479814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Can be used for: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learning paths.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quizzes and assessments.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reinforcement recommendations.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effectiveness analytics.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3C4A41-B6DF-ADFC-199F-D81F10E17313}"/>
              </a:ext>
            </a:extLst>
          </p:cNvPr>
          <p:cNvSpPr txBox="1"/>
          <p:nvPr/>
        </p:nvSpPr>
        <p:spPr>
          <a:xfrm>
            <a:off x="2573436" y="155676"/>
            <a:ext cx="6327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Common L&amp;D challenges in large manufacturing Setups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0E5EA0-5279-4CF7-ACB0-391E22BB8E5E}"/>
              </a:ext>
            </a:extLst>
          </p:cNvPr>
          <p:cNvSpPr txBox="1"/>
          <p:nvPr/>
        </p:nvSpPr>
        <p:spPr>
          <a:xfrm>
            <a:off x="340551" y="525008"/>
            <a:ext cx="821250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Skill Gap Visibility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 does not have a real-time view of employee skills.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identify who lacks which competency.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data is often spread across spreadsheets, certifications, and performance reviews.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F437CD-D74C-D53F-D6B1-886B62B96BD7}"/>
              </a:ext>
            </a:extLst>
          </p:cNvPr>
          <p:cNvSpPr txBox="1"/>
          <p:nvPr/>
        </p:nvSpPr>
        <p:spPr>
          <a:xfrm>
            <a:off x="340551" y="2012199"/>
            <a:ext cx="453201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Wrong training assignments.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Delayed workforce planning.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dependence on manual assessments.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5EB557-3EF8-0521-0FD8-1F758595DC32}"/>
              </a:ext>
            </a:extLst>
          </p:cNvPr>
          <p:cNvSpPr txBox="1"/>
          <p:nvPr/>
        </p:nvSpPr>
        <p:spPr>
          <a:xfrm>
            <a:off x="7139958" y="2012199"/>
            <a:ext cx="410881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Can be used for: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inventory and competency mapping.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AI-generated skill gap analysis.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Role-to-skill matching dashboards.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DC21EC-12A0-6103-7182-F119170673DE}"/>
              </a:ext>
            </a:extLst>
          </p:cNvPr>
          <p:cNvSpPr txBox="1"/>
          <p:nvPr/>
        </p:nvSpPr>
        <p:spPr>
          <a:xfrm>
            <a:off x="340551" y="3645473"/>
            <a:ext cx="698781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Low Training Effectiveness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Employees attend training but may not retain or apply knowledge.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training content is delivered to everyone regardless of background.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AD9534-FFF2-074F-EF03-17F9FD89E1C1}"/>
              </a:ext>
            </a:extLst>
          </p:cNvPr>
          <p:cNvSpPr txBox="1"/>
          <p:nvPr/>
        </p:nvSpPr>
        <p:spPr>
          <a:xfrm>
            <a:off x="340551" y="4927556"/>
            <a:ext cx="387157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ROI on training programs.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Productivity improvements are limited.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Repeated training requirements.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692DFA3-F888-31A5-5193-5B806CAE6A8F}"/>
              </a:ext>
            </a:extLst>
          </p:cNvPr>
          <p:cNvCxnSpPr>
            <a:cxnSpLocks/>
          </p:cNvCxnSpPr>
          <p:nvPr/>
        </p:nvCxnSpPr>
        <p:spPr>
          <a:xfrm>
            <a:off x="2133601" y="3429000"/>
            <a:ext cx="72070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3147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D27B149-417C-535A-09BF-D35CA6EA2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just"/>
            <a:fld id="{EF6B88AA-BC8C-4299-BEC9-8B6E84459602}" type="slidenum">
              <a:rPr lang="en-IN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 algn="just"/>
              <a:t>5</a:t>
            </a:fld>
            <a:endParaRPr lang="en-I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EE4579-E5ED-AA74-F34C-FB43A3A9F964}"/>
              </a:ext>
            </a:extLst>
          </p:cNvPr>
          <p:cNvSpPr txBox="1"/>
          <p:nvPr/>
        </p:nvSpPr>
        <p:spPr>
          <a:xfrm>
            <a:off x="6096000" y="4859816"/>
            <a:ext cx="595252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Can be used for: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capture through interviews and documents.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RAG-based knowledge assistant.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Searchable expert knowledge repository.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chatbot trained on SOPs, manuals, and expert experiences.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A4D088-684C-F2B5-34BB-A36F501D4246}"/>
              </a:ext>
            </a:extLst>
          </p:cNvPr>
          <p:cNvSpPr txBox="1"/>
          <p:nvPr/>
        </p:nvSpPr>
        <p:spPr>
          <a:xfrm>
            <a:off x="193934" y="217498"/>
            <a:ext cx="1124098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Lack of Personalization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maintenance engineer, production engineer, and supervisor may receive similar training modules.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journeys are not tailored to career goals or current skill levels. 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3C6CB9-5DB9-ABD1-5B9B-57197194C03E}"/>
              </a:ext>
            </a:extLst>
          </p:cNvPr>
          <p:cNvSpPr txBox="1"/>
          <p:nvPr/>
        </p:nvSpPr>
        <p:spPr>
          <a:xfrm>
            <a:off x="193935" y="1599608"/>
            <a:ext cx="49778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engagement.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fatigue.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Slower skill development.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4A27B6-F1AB-4577-8C79-966661A1E1C1}"/>
              </a:ext>
            </a:extLst>
          </p:cNvPr>
          <p:cNvSpPr txBox="1"/>
          <p:nvPr/>
        </p:nvSpPr>
        <p:spPr>
          <a:xfrm>
            <a:off x="6570981" y="1691776"/>
            <a:ext cx="52277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Can be used for: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learning recommendations.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content generation.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Career-path-driven learning plans.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88141C-5666-FE41-D7BC-6AF58DB011EA}"/>
              </a:ext>
            </a:extLst>
          </p:cNvPr>
          <p:cNvSpPr txBox="1"/>
          <p:nvPr/>
        </p:nvSpPr>
        <p:spPr>
          <a:xfrm>
            <a:off x="193935" y="3064821"/>
            <a:ext cx="1142779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Knowledge Loss from Experienced Workforce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Senior employees retire, resign, or transfer.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Critical tacit knowledge remains undocumented.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 Troubleshooting specific equipment failures.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best practices. And Plant-specific insights learned through experience.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E76C24-A8FE-F1F2-CB10-A427DCA042DC}"/>
              </a:ext>
            </a:extLst>
          </p:cNvPr>
          <p:cNvSpPr txBox="1"/>
          <p:nvPr/>
        </p:nvSpPr>
        <p:spPr>
          <a:xfrm>
            <a:off x="225619" y="4989292"/>
            <a:ext cx="325185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Repeated mistakes.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Longer onboarding time.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of organizational expertise.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5285231-7E6E-6E72-BB35-E04985277A8A}"/>
              </a:ext>
            </a:extLst>
          </p:cNvPr>
          <p:cNvCxnSpPr>
            <a:cxnSpLocks/>
          </p:cNvCxnSpPr>
          <p:nvPr/>
        </p:nvCxnSpPr>
        <p:spPr>
          <a:xfrm>
            <a:off x="2418735" y="2966498"/>
            <a:ext cx="634180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0315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00419B-0C4C-38A6-EFB2-50D56B7F5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B88AA-BC8C-4299-BEC9-8B6E84459602}" type="slidenum">
              <a:rPr lang="en-IN" smtClean="0"/>
              <a:t>6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A4DE58-222C-031E-80C2-AE8F1C152982}"/>
              </a:ext>
            </a:extLst>
          </p:cNvPr>
          <p:cNvSpPr txBox="1"/>
          <p:nvPr/>
        </p:nvSpPr>
        <p:spPr>
          <a:xfrm>
            <a:off x="4494824" y="265471"/>
            <a:ext cx="32023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Primary Problems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EC9EA6-875B-0B11-AAC2-49F1B577DBDA}"/>
              </a:ext>
            </a:extLst>
          </p:cNvPr>
          <p:cNvSpPr txBox="1"/>
          <p:nvPr/>
        </p:nvSpPr>
        <p:spPr>
          <a:xfrm>
            <a:off x="353962" y="943896"/>
            <a:ext cx="1096296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a centralized system to assess, track, and visualize employee skills, competency gaps, and performance, limiting data-driven workforce development and training decisions.</a:t>
            </a:r>
          </a:p>
          <a:p>
            <a:pPr marL="342900" indent="-342900" algn="just">
              <a:buAutoNum type="arabicPeriod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Repetitive and unnecessary training for some employees. Lower engagement and training effectiveness and slower skill development.</a:t>
            </a:r>
          </a:p>
          <a:p>
            <a:pPr marL="342900" indent="-342900" algn="just">
              <a:buAutoNum type="arabicPeriod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Critical operational knowledge, troubleshooting expertise, and best practices are lost when experienced employees retire, resign, or move to different roles.</a:t>
            </a:r>
          </a:p>
          <a:p>
            <a:pPr marL="342900" indent="-342900" algn="just">
              <a:buAutoNum type="arabicPeriod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 lack visibility into whether employees retain and apply knowledge gained from training programs.</a:t>
            </a:r>
          </a:p>
          <a:p>
            <a:pPr marL="342900" indent="-342900" algn="just">
              <a:buAutoNum type="arabicPeriod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Unified classroom training or expert sessions, lectures are mostly not taken seriously and often overlooked until forced upon them, and employees attends only occasionally.</a:t>
            </a:r>
          </a:p>
        </p:txBody>
      </p:sp>
    </p:spTree>
    <p:extLst>
      <p:ext uri="{BB962C8B-B14F-4D97-AF65-F5344CB8AC3E}">
        <p14:creationId xmlns:p14="http://schemas.microsoft.com/office/powerpoint/2010/main" val="4993790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3D554A-89BF-CD23-183C-300620088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B88AA-BC8C-4299-BEC9-8B6E84459602}" type="slidenum">
              <a:rPr lang="en-IN" smtClean="0"/>
              <a:t>7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F0B141-E90A-A0C3-E24E-7058FA873D9E}"/>
              </a:ext>
            </a:extLst>
          </p:cNvPr>
          <p:cNvSpPr txBox="1"/>
          <p:nvPr/>
        </p:nvSpPr>
        <p:spPr>
          <a:xfrm>
            <a:off x="340073" y="1023000"/>
            <a:ext cx="11511853" cy="46130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Inefficient allocation of training budgets and resources.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Delays in workforce planning, succession planning, and deployment of talent to business-critical roles.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Employees spend time on irrelevant or repetitive training.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engagement, learning effectiveness, and skill development speed.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return on training investments and slower career progression.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of critical operational and domain expertise when employees retire or leave.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Longer onboarding time for new employees and increased dependency on a few experts.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Repeated mistakes, slower troubleshooting, and reduced operational efficiency.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completion does not translate into improved job performance.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need for retraining, leading to higher training costs.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improvement in productivity, capability building, and business outcomes despite training investments.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EC08C7-DCC6-0216-A86D-55FB9BDC4AD8}"/>
              </a:ext>
            </a:extLst>
          </p:cNvPr>
          <p:cNvSpPr txBox="1"/>
          <p:nvPr/>
        </p:nvSpPr>
        <p:spPr>
          <a:xfrm>
            <a:off x="4787947" y="354857"/>
            <a:ext cx="23326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</a:t>
            </a:r>
            <a:r>
              <a:rPr lang="en-IN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</a:t>
            </a:r>
            <a:endParaRPr lang="en-IN"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18468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3B2B01-E856-BBA5-9DD7-728DBC731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B88AA-BC8C-4299-BEC9-8B6E84459602}" type="slidenum">
              <a:rPr lang="en-IN" smtClean="0"/>
              <a:t>8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3F3044-1A60-6350-0D43-7D3A9A43650F}"/>
              </a:ext>
            </a:extLst>
          </p:cNvPr>
          <p:cNvSpPr txBox="1"/>
          <p:nvPr/>
        </p:nvSpPr>
        <p:spPr>
          <a:xfrm>
            <a:off x="294968" y="983226"/>
            <a:ext cx="11189109" cy="419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can analyse training records, assessments, certifications, and performance data to automatically identify skill gaps.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real-time visibility into workforce capabilities at employee, team, and organizational levels. Helps managers make data-driven training and workforce planning decisions.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can recommend personalized learning paths based on role, department, experience, and skill gaps. Continuously adapts recommendations as employees learn and progress.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can capture and organize knowledge from SOPs, reports, manuals, and expert interactions. Makes critical expertise searchable and accessible through a conversational knowledge assistant.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employees who need additional support or reinforcement.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Preserves institutional knowledge and reduces dependency on individual experts.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7E0DE0-829D-DCF1-9BB3-B1E403743C9C}"/>
              </a:ext>
            </a:extLst>
          </p:cNvPr>
          <p:cNvSpPr txBox="1"/>
          <p:nvPr/>
        </p:nvSpPr>
        <p:spPr>
          <a:xfrm>
            <a:off x="5053781" y="314632"/>
            <a:ext cx="14516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AI ?</a:t>
            </a:r>
          </a:p>
        </p:txBody>
      </p:sp>
    </p:spTree>
    <p:extLst>
      <p:ext uri="{BB962C8B-B14F-4D97-AF65-F5344CB8AC3E}">
        <p14:creationId xmlns:p14="http://schemas.microsoft.com/office/powerpoint/2010/main" val="230926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E4649F-A81C-445E-4B8C-DB9FBE832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B88AA-BC8C-4299-BEC9-8B6E84459602}" type="slidenum">
              <a:rPr lang="en-IN" smtClean="0"/>
              <a:t>9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1DA9DB-C575-FB02-EC47-AAC814E8EA3A}"/>
              </a:ext>
            </a:extLst>
          </p:cNvPr>
          <p:cNvSpPr txBox="1"/>
          <p:nvPr/>
        </p:nvSpPr>
        <p:spPr>
          <a:xfrm>
            <a:off x="171589" y="1251940"/>
            <a:ext cx="11773416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organization has limited visibility into whether training programs actually improve employee skills and job performance.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 In System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completion is tracked, but learning outcomes and workplace application are not consistently measured.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feedback loops exist to improve training content and delivery.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on Business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investments may not deliver expected returns.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Employees may require repeated training on the same topics.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identify which programs are effective and which need improvement.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AI?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can analyse assessment scores, training participation, performance data, and feedback to measure learning impact.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identify at-risk learners, recommend reinforcement, and provide insights on training ROI.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7A6EE1-FCAF-CCCC-08AC-B119B65BACA8}"/>
              </a:ext>
            </a:extLst>
          </p:cNvPr>
          <p:cNvSpPr txBox="1"/>
          <p:nvPr/>
        </p:nvSpPr>
        <p:spPr>
          <a:xfrm>
            <a:off x="4190606" y="450479"/>
            <a:ext cx="30139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Secondary</a:t>
            </a:r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Opportunity</a:t>
            </a:r>
          </a:p>
        </p:txBody>
      </p:sp>
    </p:spTree>
    <p:extLst>
      <p:ext uri="{BB962C8B-B14F-4D97-AF65-F5344CB8AC3E}">
        <p14:creationId xmlns:p14="http://schemas.microsoft.com/office/powerpoint/2010/main" val="8612679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3056</TotalTime>
  <Words>1135</Words>
  <Application>Microsoft Office PowerPoint</Application>
  <PresentationFormat>Widescreen</PresentationFormat>
  <Paragraphs>142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Retrospect</vt:lpstr>
      <vt:lpstr>AI Agents for Digital Capability Building in Tata Steel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Vaibhav Kumar</dc:creator>
  <cp:lastModifiedBy>Vaibhav Kumar</cp:lastModifiedBy>
  <cp:revision>1</cp:revision>
  <dcterms:created xsi:type="dcterms:W3CDTF">2026-06-14T08:51:08Z</dcterms:created>
  <dcterms:modified xsi:type="dcterms:W3CDTF">2026-06-16T11:47:42Z</dcterms:modified>
</cp:coreProperties>
</file>