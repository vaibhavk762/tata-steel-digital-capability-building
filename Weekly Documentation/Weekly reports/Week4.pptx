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704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733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17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95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8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37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6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424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98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23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59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D3949A-E0F6-439D-B046-375FF415D618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D3EC178-4E5B-4804-8DCD-4E922670867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46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7B8253-DB18-2E51-BA2D-76F0C52BF73E}"/>
              </a:ext>
            </a:extLst>
          </p:cNvPr>
          <p:cNvSpPr>
            <a:spLocks noGrp="1"/>
          </p:cNvSpPr>
          <p:nvPr/>
        </p:nvSpPr>
        <p:spPr>
          <a:xfrm>
            <a:off x="1425278" y="517820"/>
            <a:ext cx="10058400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Agents for Digital Capability Building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Tata Steel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194D8E1-7274-A24B-4C6A-B135DF570ED7}"/>
              </a:ext>
            </a:extLst>
          </p:cNvPr>
          <p:cNvSpPr txBox="1"/>
          <p:nvPr/>
        </p:nvSpPr>
        <p:spPr>
          <a:xfrm>
            <a:off x="2897459" y="4320319"/>
            <a:ext cx="7114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WEEK-4</a:t>
            </a:r>
          </a:p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It Intelligent (Data + Context + Scale Thinking)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D1B0B60-A773-E30E-C202-09626A700A6B}"/>
              </a:ext>
            </a:extLst>
          </p:cNvPr>
          <p:cNvSpPr txBox="1"/>
          <p:nvPr/>
        </p:nvSpPr>
        <p:spPr>
          <a:xfrm>
            <a:off x="4219074" y="274222"/>
            <a:ext cx="4254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 INTERNSHIP - 2026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ED4ECB5-B45B-1268-DC49-FCE3318F2718}"/>
              </a:ext>
            </a:extLst>
          </p:cNvPr>
          <p:cNvSpPr txBox="1"/>
          <p:nvPr/>
        </p:nvSpPr>
        <p:spPr>
          <a:xfrm>
            <a:off x="651518" y="5494505"/>
            <a:ext cx="3033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Vaibhav Kumar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F429545-746A-E320-92DD-8CFC0D0E0123}"/>
              </a:ext>
            </a:extLst>
          </p:cNvPr>
          <p:cNvSpPr txBox="1"/>
          <p:nvPr/>
        </p:nvSpPr>
        <p:spPr>
          <a:xfrm>
            <a:off x="5135094" y="5151316"/>
            <a:ext cx="2422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Abhinav Anish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F342C92-A863-FF5A-BD38-FE2E59338356}"/>
              </a:ext>
            </a:extLst>
          </p:cNvPr>
          <p:cNvSpPr>
            <a:spLocks noGrp="1"/>
          </p:cNvSpPr>
          <p:nvPr/>
        </p:nvSpPr>
        <p:spPr>
          <a:xfrm>
            <a:off x="10228456" y="6218653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D8BE77-E20D-420F-84E5-F4153599F684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95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E3F64-1239-D0D6-68F3-BDC5DAF3D045}"/>
              </a:ext>
            </a:extLst>
          </p:cNvPr>
          <p:cNvSpPr txBox="1"/>
          <p:nvPr/>
        </p:nvSpPr>
        <p:spPr>
          <a:xfrm>
            <a:off x="4035564" y="235974"/>
            <a:ext cx="4120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From Demo to Context-Aware AI Assistant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EA7BF-11C4-686C-06F1-34028C89F8F6}"/>
              </a:ext>
            </a:extLst>
          </p:cNvPr>
          <p:cNvSpPr txBox="1"/>
          <p:nvPr/>
        </p:nvSpPr>
        <p:spPr>
          <a:xfrm>
            <a:off x="1081549" y="1189703"/>
            <a:ext cx="47872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Objective</a:t>
            </a:r>
            <a:endParaRPr lang="en-IN" dirty="0"/>
          </a:p>
          <a:p>
            <a:r>
              <a:rPr lang="en-IN" dirty="0"/>
              <a:t>Improve response accuracy </a:t>
            </a:r>
          </a:p>
          <a:p>
            <a:r>
              <a:rPr lang="en-IN" dirty="0"/>
              <a:t>Add domain-specific intelligence </a:t>
            </a:r>
          </a:p>
          <a:p>
            <a:r>
              <a:rPr lang="en-IN" dirty="0"/>
              <a:t>Make responses context-aware </a:t>
            </a:r>
          </a:p>
          <a:p>
            <a:r>
              <a:rPr lang="en-IN" dirty="0"/>
              <a:t>Personalize learning recommendations </a:t>
            </a:r>
          </a:p>
          <a:p>
            <a:r>
              <a:rPr lang="en-IN" dirty="0"/>
              <a:t>Align solution with a real enterprise environment</a:t>
            </a:r>
          </a:p>
        </p:txBody>
      </p:sp>
    </p:spTree>
    <p:extLst>
      <p:ext uri="{BB962C8B-B14F-4D97-AF65-F5344CB8AC3E}">
        <p14:creationId xmlns:p14="http://schemas.microsoft.com/office/powerpoint/2010/main" val="2071790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E3175C-B225-124E-9397-AF3DF3AE1B84}"/>
              </a:ext>
            </a:extLst>
          </p:cNvPr>
          <p:cNvSpPr txBox="1"/>
          <p:nvPr/>
        </p:nvSpPr>
        <p:spPr>
          <a:xfrm>
            <a:off x="5058312" y="176981"/>
            <a:ext cx="2075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Objectives Achieved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AFE42-09EB-DEFC-3DB2-F31377B0CC26}"/>
              </a:ext>
            </a:extLst>
          </p:cNvPr>
          <p:cNvSpPr txBox="1"/>
          <p:nvPr/>
        </p:nvSpPr>
        <p:spPr>
          <a:xfrm>
            <a:off x="2094271" y="1396181"/>
            <a:ext cx="411632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✔ Retrieval-Augmented Generation (RAG)</a:t>
            </a:r>
          </a:p>
          <a:p>
            <a:r>
              <a:rPr lang="en-IN" dirty="0"/>
              <a:t>✔ Domain-specific knowledge base</a:t>
            </a:r>
          </a:p>
          <a:p>
            <a:r>
              <a:rPr lang="en-IN" dirty="0"/>
              <a:t>✔ Personalized AI responses</a:t>
            </a:r>
          </a:p>
          <a:p>
            <a:r>
              <a:rPr lang="en-IN" dirty="0"/>
              <a:t>✔ Multi-agent architecture</a:t>
            </a:r>
          </a:p>
          <a:p>
            <a:r>
              <a:rPr lang="en-IN" dirty="0"/>
              <a:t>✔ Context-aware document retrieval</a:t>
            </a:r>
          </a:p>
          <a:p>
            <a:r>
              <a:rPr lang="en-IN" dirty="0"/>
              <a:t>✔ Improved response quality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225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4BB952-3707-F00D-D8CF-261BBEA9A44D}"/>
              </a:ext>
            </a:extLst>
          </p:cNvPr>
          <p:cNvSpPr txBox="1"/>
          <p:nvPr/>
        </p:nvSpPr>
        <p:spPr>
          <a:xfrm>
            <a:off x="1474839" y="1052051"/>
            <a:ext cx="354020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Before Week 5</a:t>
            </a:r>
          </a:p>
          <a:p>
            <a:r>
              <a:rPr lang="en-IN" dirty="0"/>
              <a:t>Generic chatbot </a:t>
            </a:r>
          </a:p>
          <a:p>
            <a:r>
              <a:rPr lang="en-IN" dirty="0"/>
              <a:t>Limited retrieval </a:t>
            </a:r>
          </a:p>
          <a:p>
            <a:r>
              <a:rPr lang="en-IN" dirty="0"/>
              <a:t>Generic LLM responses </a:t>
            </a:r>
          </a:p>
          <a:p>
            <a:r>
              <a:rPr lang="en-IN" dirty="0"/>
              <a:t>No personalization </a:t>
            </a:r>
          </a:p>
          <a:p>
            <a:r>
              <a:rPr lang="en-IN" dirty="0"/>
              <a:t>Single knowledge flow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After Week 5</a:t>
            </a:r>
          </a:p>
          <a:p>
            <a:r>
              <a:rPr lang="en-IN" dirty="0"/>
              <a:t>Context-aware assistant </a:t>
            </a:r>
          </a:p>
          <a:p>
            <a:r>
              <a:rPr lang="en-IN" dirty="0"/>
              <a:t>Multi-agent architecture </a:t>
            </a:r>
          </a:p>
          <a:p>
            <a:r>
              <a:rPr lang="en-IN" dirty="0"/>
              <a:t>Enterprise document retrieval </a:t>
            </a:r>
          </a:p>
          <a:p>
            <a:r>
              <a:rPr lang="en-IN" dirty="0"/>
              <a:t>Personalized recommendations </a:t>
            </a:r>
          </a:p>
          <a:p>
            <a:r>
              <a:rPr lang="en-IN" dirty="0"/>
              <a:t>Accurate domain-specific responses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43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09D4CC-A121-80E0-A90A-75D30F12E5A7}"/>
              </a:ext>
            </a:extLst>
          </p:cNvPr>
          <p:cNvSpPr txBox="1"/>
          <p:nvPr/>
        </p:nvSpPr>
        <p:spPr>
          <a:xfrm>
            <a:off x="2192594" y="1297858"/>
            <a:ext cx="740279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Enterprise Knowledge Sources</a:t>
            </a:r>
          </a:p>
          <a:p>
            <a:r>
              <a:rPr lang="en-IN" dirty="0"/>
              <a:t>HR Policies </a:t>
            </a:r>
          </a:p>
          <a:p>
            <a:r>
              <a:rPr lang="en-IN" dirty="0"/>
              <a:t>Leave Policy </a:t>
            </a:r>
          </a:p>
          <a:p>
            <a:r>
              <a:rPr lang="en-IN" dirty="0"/>
              <a:t>Onboarding Documents </a:t>
            </a:r>
          </a:p>
          <a:p>
            <a:r>
              <a:rPr lang="en-IN" dirty="0"/>
              <a:t>Safety Manual </a:t>
            </a:r>
          </a:p>
          <a:p>
            <a:r>
              <a:rPr lang="en-IN" dirty="0"/>
              <a:t>Maintenance Manual </a:t>
            </a:r>
          </a:p>
          <a:p>
            <a:r>
              <a:rPr lang="en-IN" dirty="0"/>
              <a:t>Annual Report </a:t>
            </a:r>
          </a:p>
          <a:p>
            <a:r>
              <a:rPr lang="en-IN" dirty="0"/>
              <a:t>Sustainability Report </a:t>
            </a:r>
          </a:p>
          <a:p>
            <a:r>
              <a:rPr lang="en-IN" dirty="0"/>
              <a:t>NSDC Role Documents </a:t>
            </a:r>
          </a:p>
          <a:p>
            <a:r>
              <a:rPr lang="en-IN" dirty="0"/>
              <a:t>Stored inside </a:t>
            </a:r>
            <a:r>
              <a:rPr lang="en-IN" dirty="0" err="1"/>
              <a:t>ChromaDB</a:t>
            </a:r>
            <a:r>
              <a:rPr lang="en-IN" dirty="0"/>
              <a:t> as separate collections for efficient semantic search.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67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7F7589-8583-EAF5-5CFF-B2DFA6776FBF}"/>
              </a:ext>
            </a:extLst>
          </p:cNvPr>
          <p:cNvSpPr txBox="1"/>
          <p:nvPr/>
        </p:nvSpPr>
        <p:spPr>
          <a:xfrm>
            <a:off x="2625214" y="474345"/>
            <a:ext cx="5218673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Retrieval Pipeline</a:t>
            </a:r>
          </a:p>
          <a:p>
            <a:r>
              <a:rPr lang="en-IN" dirty="0"/>
              <a:t>User Query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Semantic Embedding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Relevant Collection Selection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Vector Search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Context Retrieval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LLM Response</a:t>
            </a:r>
          </a:p>
          <a:p>
            <a:r>
              <a:rPr lang="en-IN" b="1" dirty="0"/>
              <a:t>Features</a:t>
            </a:r>
          </a:p>
          <a:p>
            <a:r>
              <a:rPr lang="en-IN" dirty="0"/>
              <a:t>Semantic search </a:t>
            </a:r>
          </a:p>
          <a:p>
            <a:r>
              <a:rPr lang="en-IN" dirty="0"/>
              <a:t>Query expansion </a:t>
            </a:r>
          </a:p>
          <a:p>
            <a:r>
              <a:rPr lang="en-IN" dirty="0"/>
              <a:t>Duplicate chunk removal </a:t>
            </a:r>
          </a:p>
          <a:p>
            <a:r>
              <a:rPr lang="en-IN" dirty="0"/>
              <a:t>Role detection </a:t>
            </a:r>
          </a:p>
          <a:p>
            <a:r>
              <a:rPr lang="en-IN" dirty="0"/>
              <a:t>Context filtering </a:t>
            </a:r>
          </a:p>
          <a:p>
            <a:r>
              <a:rPr lang="en-IN" dirty="0"/>
              <a:t>Result:</a:t>
            </a:r>
          </a:p>
          <a:p>
            <a:r>
              <a:rPr lang="en-IN" dirty="0"/>
              <a:t>Higher retrieval accuracy with reduced hallucinations.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37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900C2A-9843-0CE1-83AA-7C5EC93C005F}"/>
              </a:ext>
            </a:extLst>
          </p:cNvPr>
          <p:cNvSpPr txBox="1"/>
          <p:nvPr/>
        </p:nvSpPr>
        <p:spPr>
          <a:xfrm>
            <a:off x="570271" y="363793"/>
            <a:ext cx="6824048" cy="11172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Multi-Agent Architecture</a:t>
            </a:r>
          </a:p>
          <a:p>
            <a:r>
              <a:rPr lang="en-IN" b="1" dirty="0"/>
              <a:t>Specialized AI Agents</a:t>
            </a:r>
          </a:p>
          <a:p>
            <a:r>
              <a:rPr lang="en-IN" b="1" dirty="0"/>
              <a:t>Knowledge Agent</a:t>
            </a:r>
          </a:p>
          <a:p>
            <a:r>
              <a:rPr lang="en-IN" dirty="0"/>
              <a:t>SOPs </a:t>
            </a:r>
          </a:p>
          <a:p>
            <a:r>
              <a:rPr lang="en-IN" dirty="0"/>
              <a:t>Annual Report </a:t>
            </a:r>
          </a:p>
          <a:p>
            <a:r>
              <a:rPr lang="en-IN" dirty="0"/>
              <a:t>Sustainability Report </a:t>
            </a:r>
          </a:p>
          <a:p>
            <a:r>
              <a:rPr lang="en-IN" dirty="0"/>
              <a:t>Safety Manual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HR Agent</a:t>
            </a:r>
          </a:p>
          <a:p>
            <a:r>
              <a:rPr lang="en-IN" dirty="0"/>
              <a:t>Leave policy </a:t>
            </a:r>
          </a:p>
          <a:p>
            <a:r>
              <a:rPr lang="en-IN" dirty="0"/>
              <a:t>Probation </a:t>
            </a:r>
          </a:p>
          <a:p>
            <a:r>
              <a:rPr lang="en-IN" dirty="0"/>
              <a:t>Promotion </a:t>
            </a:r>
          </a:p>
          <a:p>
            <a:r>
              <a:rPr lang="en-IN" dirty="0"/>
              <a:t>Benefits </a:t>
            </a:r>
          </a:p>
          <a:p>
            <a:r>
              <a:rPr lang="en-IN" dirty="0"/>
              <a:t>Onboarding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Maintenance Agent</a:t>
            </a:r>
          </a:p>
          <a:p>
            <a:r>
              <a:rPr lang="en-IN" dirty="0"/>
              <a:t>Equipment troubleshooting </a:t>
            </a:r>
          </a:p>
          <a:p>
            <a:r>
              <a:rPr lang="en-IN" dirty="0"/>
              <a:t>PM schedules </a:t>
            </a:r>
          </a:p>
          <a:p>
            <a:r>
              <a:rPr lang="en-IN" dirty="0"/>
              <a:t>Sensor thresholds </a:t>
            </a:r>
          </a:p>
          <a:p>
            <a:r>
              <a:rPr lang="en-IN" dirty="0"/>
              <a:t>Spare parts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Learning Agent</a:t>
            </a:r>
          </a:p>
          <a:p>
            <a:r>
              <a:rPr lang="en-IN" dirty="0"/>
              <a:t>Readiness score </a:t>
            </a:r>
          </a:p>
          <a:p>
            <a:r>
              <a:rPr lang="en-IN" dirty="0"/>
              <a:t>Skill gaps </a:t>
            </a:r>
          </a:p>
          <a:p>
            <a:r>
              <a:rPr lang="en-IN" dirty="0"/>
              <a:t>Course recommendations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Production Agent</a:t>
            </a:r>
          </a:p>
          <a:p>
            <a:r>
              <a:rPr lang="en-IN" dirty="0"/>
              <a:t>KPI analysis </a:t>
            </a:r>
          </a:p>
          <a:p>
            <a:r>
              <a:rPr lang="en-IN" dirty="0"/>
              <a:t>Downtime analysis </a:t>
            </a:r>
          </a:p>
          <a:p>
            <a:r>
              <a:rPr lang="en-IN" dirty="0"/>
              <a:t>Efficiency comparison </a:t>
            </a:r>
          </a:p>
          <a:p>
            <a:r>
              <a:rPr lang="en-IN" dirty="0"/>
              <a:t>Performance insights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Orchestrator</a:t>
            </a:r>
          </a:p>
          <a:p>
            <a:r>
              <a:rPr lang="en-IN" dirty="0"/>
              <a:t>Automatically routes user queries to the appropriate specialized agent.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321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91E5F5-450B-94A6-CAF9-A9267497591F}"/>
              </a:ext>
            </a:extLst>
          </p:cNvPr>
          <p:cNvSpPr txBox="1"/>
          <p:nvPr/>
        </p:nvSpPr>
        <p:spPr>
          <a:xfrm>
            <a:off x="3372465" y="1140542"/>
            <a:ext cx="335008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Personalized Learning Assistant</a:t>
            </a:r>
          </a:p>
          <a:p>
            <a:r>
              <a:rPr lang="en-IN" dirty="0"/>
              <a:t>Uses employee information</a:t>
            </a:r>
          </a:p>
          <a:p>
            <a:r>
              <a:rPr lang="en-IN" dirty="0"/>
              <a:t>Current role </a:t>
            </a:r>
          </a:p>
          <a:p>
            <a:r>
              <a:rPr lang="en-IN" dirty="0"/>
              <a:t>Target role </a:t>
            </a:r>
          </a:p>
          <a:p>
            <a:r>
              <a:rPr lang="en-IN" dirty="0"/>
              <a:t>Department </a:t>
            </a:r>
          </a:p>
          <a:p>
            <a:r>
              <a:rPr lang="en-IN" dirty="0"/>
              <a:t>Experience </a:t>
            </a:r>
          </a:p>
          <a:p>
            <a:r>
              <a:rPr lang="en-IN" dirty="0"/>
              <a:t>Skill gaps </a:t>
            </a:r>
          </a:p>
          <a:p>
            <a:r>
              <a:rPr lang="en-IN" dirty="0"/>
              <a:t>Readiness score </a:t>
            </a:r>
          </a:p>
          <a:p>
            <a:r>
              <a:rPr lang="en-IN" dirty="0"/>
              <a:t>Provides</a:t>
            </a:r>
          </a:p>
          <a:p>
            <a:r>
              <a:rPr lang="en-IN" dirty="0"/>
              <a:t>Learning roadmap </a:t>
            </a:r>
          </a:p>
          <a:p>
            <a:r>
              <a:rPr lang="en-IN" dirty="0"/>
              <a:t>Promotion readiness </a:t>
            </a:r>
          </a:p>
          <a:p>
            <a:r>
              <a:rPr lang="en-IN" dirty="0"/>
              <a:t>Missing skills </a:t>
            </a:r>
          </a:p>
          <a:p>
            <a:r>
              <a:rPr lang="en-IN" dirty="0"/>
              <a:t>Course recommendations </a:t>
            </a:r>
          </a:p>
          <a:p>
            <a:r>
              <a:rPr lang="en-IN" dirty="0"/>
              <a:t>Instead of generic training advice.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4417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2601F1-E0EA-0F93-4017-5ED3F07361C6}"/>
              </a:ext>
            </a:extLst>
          </p:cNvPr>
          <p:cNvSpPr txBox="1"/>
          <p:nvPr/>
        </p:nvSpPr>
        <p:spPr>
          <a:xfrm>
            <a:off x="3215148" y="1071716"/>
            <a:ext cx="700544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Slide 8 — Response Quality Improvements</a:t>
            </a:r>
          </a:p>
          <a:p>
            <a:r>
              <a:rPr lang="en-IN" b="1" dirty="0"/>
              <a:t>AI Improvements</a:t>
            </a:r>
          </a:p>
          <a:p>
            <a:r>
              <a:rPr lang="en-IN" dirty="0"/>
              <a:t>Implemented</a:t>
            </a:r>
          </a:p>
          <a:p>
            <a:r>
              <a:rPr lang="en-IN" dirty="0"/>
              <a:t>Better prompts </a:t>
            </a:r>
          </a:p>
          <a:p>
            <a:r>
              <a:rPr lang="en-IN" dirty="0"/>
              <a:t>Context synthesis </a:t>
            </a:r>
          </a:p>
          <a:p>
            <a:r>
              <a:rPr lang="en-IN" dirty="0"/>
              <a:t>Numerical reasoning </a:t>
            </a:r>
          </a:p>
          <a:p>
            <a:r>
              <a:rPr lang="en-IN" dirty="0"/>
              <a:t>Multilingual support </a:t>
            </a:r>
          </a:p>
          <a:p>
            <a:r>
              <a:rPr lang="en-IN" dirty="0"/>
              <a:t>Report summarization </a:t>
            </a:r>
          </a:p>
          <a:p>
            <a:r>
              <a:rPr lang="en-IN" dirty="0"/>
              <a:t>Duplicate context removal </a:t>
            </a:r>
          </a:p>
          <a:p>
            <a:r>
              <a:rPr lang="en-IN" dirty="0"/>
              <a:t>Result</a:t>
            </a:r>
          </a:p>
          <a:p>
            <a:r>
              <a:rPr lang="en-IN" dirty="0"/>
              <a:t>More accurate and concise responses based only on internal documents.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7338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E1220A-B09F-048B-16C1-87964E6A9054}"/>
              </a:ext>
            </a:extLst>
          </p:cNvPr>
          <p:cNvSpPr txBox="1"/>
          <p:nvPr/>
        </p:nvSpPr>
        <p:spPr>
          <a:xfrm>
            <a:off x="4707639" y="88489"/>
            <a:ext cx="2776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Responses</a:t>
            </a:r>
          </a:p>
        </p:txBody>
      </p:sp>
    </p:spTree>
    <p:extLst>
      <p:ext uri="{BB962C8B-B14F-4D97-AF65-F5344CB8AC3E}">
        <p14:creationId xmlns:p14="http://schemas.microsoft.com/office/powerpoint/2010/main" val="6597890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</TotalTime>
  <Words>330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Kumar</dc:creator>
  <cp:lastModifiedBy>Vaibhav Kumar</cp:lastModifiedBy>
  <cp:revision>2</cp:revision>
  <dcterms:created xsi:type="dcterms:W3CDTF">2026-06-30T09:56:05Z</dcterms:created>
  <dcterms:modified xsi:type="dcterms:W3CDTF">2026-06-30T10:04:01Z</dcterms:modified>
</cp:coreProperties>
</file>