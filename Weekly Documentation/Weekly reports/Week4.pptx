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4771ED0-B8F8-EAA9-4C00-A363CABB0484}"/>
              </a:ext>
            </a:extLst>
          </p:cNvPr>
          <p:cNvSpPr txBox="1">
            <a:spLocks/>
          </p:cNvSpPr>
          <p:nvPr/>
        </p:nvSpPr>
        <p:spPr>
          <a:xfrm>
            <a:off x="1097280" y="758952"/>
            <a:ext cx="10058400" cy="3566160"/>
          </a:xfrm>
          <a:prstGeom prst="rect">
            <a:avLst/>
          </a:prstGeom>
        </p:spPr>
        <p:txBody>
          <a:bodyP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IN" sz="8000" dirty="0">
                <a:solidFill>
                  <a:schemeClr val="bg1"/>
                </a:solidFill>
                <a:latin typeface="Times New Roman" panose="02020603050405020304" pitchFamily="18" charset="0"/>
                <a:cs typeface="Times New Roman" panose="02020603050405020304" pitchFamily="18" charset="0"/>
              </a:rPr>
              <a:t>AI Agents for Digital Capability Building</a:t>
            </a:r>
            <a:br>
              <a:rPr lang="en-IN" sz="8000" dirty="0">
                <a:solidFill>
                  <a:schemeClr val="bg1"/>
                </a:solidFill>
                <a:latin typeface="Times New Roman" panose="02020603050405020304" pitchFamily="18" charset="0"/>
                <a:cs typeface="Times New Roman" panose="02020603050405020304" pitchFamily="18" charset="0"/>
              </a:rPr>
            </a:br>
            <a:r>
              <a:rPr lang="en-IN" sz="8000" dirty="0">
                <a:solidFill>
                  <a:schemeClr val="bg1"/>
                </a:solidFill>
                <a:latin typeface="Times New Roman" panose="02020603050405020304" pitchFamily="18" charset="0"/>
                <a:cs typeface="Times New Roman" panose="02020603050405020304" pitchFamily="18" charset="0"/>
              </a:rPr>
              <a:t>in Tata Steel</a:t>
            </a:r>
          </a:p>
        </p:txBody>
      </p:sp>
      <p:sp>
        <p:nvSpPr>
          <p:cNvPr id="5" name="TextBox 4">
            <a:extLst>
              <a:ext uri="{FF2B5EF4-FFF2-40B4-BE49-F238E27FC236}">
                <a16:creationId xmlns:a16="http://schemas.microsoft.com/office/drawing/2014/main" id="{70FDCBAE-9A20-F34A-450E-6DF170E2CB10}"/>
              </a:ext>
            </a:extLst>
          </p:cNvPr>
          <p:cNvSpPr txBox="1"/>
          <p:nvPr/>
        </p:nvSpPr>
        <p:spPr>
          <a:xfrm>
            <a:off x="3009654" y="4374211"/>
            <a:ext cx="6999585" cy="830997"/>
          </a:xfrm>
          <a:prstGeom prst="rect">
            <a:avLst/>
          </a:prstGeom>
          <a:noFill/>
        </p:spPr>
        <p:txBody>
          <a:bodyPr wrap="square" rtlCol="0">
            <a:spAutoFit/>
          </a:bodyPr>
          <a:lstStyle/>
          <a:p>
            <a:pPr algn="ctr"/>
            <a:r>
              <a:rPr lang="en-IN" sz="2400" dirty="0">
                <a:solidFill>
                  <a:schemeClr val="bg1"/>
                </a:solidFill>
                <a:latin typeface="Times New Roman" panose="02020603050405020304" pitchFamily="18" charset="0"/>
                <a:cs typeface="Times New Roman" panose="02020603050405020304" pitchFamily="18" charset="0"/>
              </a:rPr>
              <a:t>WEEK-4</a:t>
            </a:r>
          </a:p>
          <a:p>
            <a:pPr algn="ctr"/>
            <a:r>
              <a:rPr lang="en-GB" sz="2400" dirty="0">
                <a:solidFill>
                  <a:schemeClr val="bg1"/>
                </a:solidFill>
                <a:latin typeface="Times New Roman" panose="02020603050405020304" pitchFamily="18" charset="0"/>
                <a:cs typeface="Times New Roman" panose="02020603050405020304" pitchFamily="18" charset="0"/>
              </a:rPr>
              <a:t>Make It Intelligent (Data + Context + Scale Thinking)</a:t>
            </a:r>
            <a:endParaRPr lang="en-IN" sz="2400" dirty="0">
              <a:solidFill>
                <a:schemeClr val="bg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41A401BD-0D8D-AF9B-DFAD-945C97A781DF}"/>
              </a:ext>
            </a:extLst>
          </p:cNvPr>
          <p:cNvSpPr txBox="1"/>
          <p:nvPr/>
        </p:nvSpPr>
        <p:spPr>
          <a:xfrm>
            <a:off x="3891076" y="515354"/>
            <a:ext cx="4254498" cy="461665"/>
          </a:xfrm>
          <a:prstGeom prst="rect">
            <a:avLst/>
          </a:prstGeom>
          <a:noFill/>
        </p:spPr>
        <p:txBody>
          <a:bodyPr wrap="none" rtlCol="0">
            <a:spAutoFit/>
          </a:bodyPr>
          <a:lstStyle/>
          <a:p>
            <a:r>
              <a:rPr lang="en-IN" sz="2400" dirty="0">
                <a:solidFill>
                  <a:schemeClr val="bg1"/>
                </a:solidFill>
                <a:latin typeface="Times New Roman" panose="02020603050405020304" pitchFamily="18" charset="0"/>
                <a:cs typeface="Times New Roman" panose="02020603050405020304" pitchFamily="18" charset="0"/>
              </a:rPr>
              <a:t>SUMMER INTERNSHIP - 2026</a:t>
            </a:r>
          </a:p>
        </p:txBody>
      </p:sp>
      <p:sp>
        <p:nvSpPr>
          <p:cNvPr id="7" name="TextBox 6">
            <a:extLst>
              <a:ext uri="{FF2B5EF4-FFF2-40B4-BE49-F238E27FC236}">
                <a16:creationId xmlns:a16="http://schemas.microsoft.com/office/drawing/2014/main" id="{665F77C9-5282-2C3F-1627-EFBACA89C39E}"/>
              </a:ext>
            </a:extLst>
          </p:cNvPr>
          <p:cNvSpPr txBox="1"/>
          <p:nvPr/>
        </p:nvSpPr>
        <p:spPr>
          <a:xfrm>
            <a:off x="323520" y="5735637"/>
            <a:ext cx="3033907" cy="369332"/>
          </a:xfrm>
          <a:prstGeom prst="rect">
            <a:avLst/>
          </a:prstGeom>
          <a:noFill/>
        </p:spPr>
        <p:txBody>
          <a:bodyPr wrap="none" rtlCol="0">
            <a:spAutoFit/>
          </a:bodyPr>
          <a:lstStyle/>
          <a:p>
            <a:r>
              <a:rPr lang="en-IN" dirty="0">
                <a:solidFill>
                  <a:schemeClr val="bg1"/>
                </a:solidFill>
                <a:latin typeface="Times New Roman" panose="02020603050405020304" pitchFamily="18" charset="0"/>
                <a:cs typeface="Times New Roman" panose="02020603050405020304" pitchFamily="18" charset="0"/>
              </a:rPr>
              <a:t>Submitted By: Vaibhav Kumar</a:t>
            </a:r>
          </a:p>
        </p:txBody>
      </p:sp>
      <p:sp>
        <p:nvSpPr>
          <p:cNvPr id="8" name="TextBox 7">
            <a:extLst>
              <a:ext uri="{FF2B5EF4-FFF2-40B4-BE49-F238E27FC236}">
                <a16:creationId xmlns:a16="http://schemas.microsoft.com/office/drawing/2014/main" id="{3A5BD840-307C-F2B7-189C-047151280D70}"/>
              </a:ext>
            </a:extLst>
          </p:cNvPr>
          <p:cNvSpPr txBox="1"/>
          <p:nvPr/>
        </p:nvSpPr>
        <p:spPr>
          <a:xfrm>
            <a:off x="5298217" y="5273972"/>
            <a:ext cx="2422458" cy="646331"/>
          </a:xfrm>
          <a:prstGeom prst="rect">
            <a:avLst/>
          </a:prstGeom>
          <a:noFill/>
        </p:spPr>
        <p:txBody>
          <a:bodyPr wrap="none" rtlCol="0">
            <a:spAutoFit/>
          </a:bodyPr>
          <a:lstStyle/>
          <a:p>
            <a:pPr algn="ctr"/>
            <a:r>
              <a:rPr lang="en-IN" dirty="0">
                <a:solidFill>
                  <a:schemeClr val="bg1"/>
                </a:solidFill>
                <a:latin typeface="Times New Roman" panose="02020603050405020304" pitchFamily="18" charset="0"/>
                <a:cs typeface="Times New Roman" panose="02020603050405020304" pitchFamily="18" charset="0"/>
              </a:rPr>
              <a:t>Under The Guidance of:</a:t>
            </a:r>
          </a:p>
          <a:p>
            <a:pPr algn="ctr"/>
            <a:r>
              <a:rPr lang="en-IN" dirty="0">
                <a:solidFill>
                  <a:schemeClr val="bg1"/>
                </a:solidFill>
                <a:latin typeface="Times New Roman" panose="02020603050405020304" pitchFamily="18" charset="0"/>
                <a:cs typeface="Times New Roman" panose="02020603050405020304" pitchFamily="18" charset="0"/>
              </a:rPr>
              <a:t>Mr. Abhinav Anish</a:t>
            </a:r>
          </a:p>
        </p:txBody>
      </p:sp>
      <p:sp>
        <p:nvSpPr>
          <p:cNvPr id="9" name="Slide Number Placeholder 1">
            <a:extLst>
              <a:ext uri="{FF2B5EF4-FFF2-40B4-BE49-F238E27FC236}">
                <a16:creationId xmlns:a16="http://schemas.microsoft.com/office/drawing/2014/main" id="{7B710132-5CA3-68B0-B596-FEFF5FA1A41B}"/>
              </a:ext>
            </a:extLst>
          </p:cNvPr>
          <p:cNvSpPr>
            <a:spLocks noGrp="1"/>
          </p:cNvSpPr>
          <p:nvPr>
            <p:ph type="sldNum" sz="quarter" idx="12"/>
          </p:nvPr>
        </p:nvSpPr>
        <p:spPr>
          <a:xfrm>
            <a:off x="9900458" y="6459785"/>
            <a:ext cx="1312025" cy="365125"/>
          </a:xfrm>
        </p:spPr>
        <p:txBody>
          <a:bodyPr/>
          <a:lstStyle/>
          <a:p>
            <a:fld id="{7CD8BE77-E20D-420F-84E5-F4153599F684}" type="slidenum">
              <a:rPr lang="en-IN" smtClean="0">
                <a:solidFill>
                  <a:schemeClr val="bg1"/>
                </a:solidFill>
              </a:rPr>
              <a:t>1</a:t>
            </a:fld>
            <a:endParaRPr lang="en-IN">
              <a:solidFill>
                <a:schemeClr val="bg1"/>
              </a:solidFill>
            </a:endParaRPr>
          </a:p>
        </p:txBody>
      </p:sp>
      <p:cxnSp>
        <p:nvCxnSpPr>
          <p:cNvPr id="11" name="Straight Connector 10">
            <a:extLst>
              <a:ext uri="{FF2B5EF4-FFF2-40B4-BE49-F238E27FC236}">
                <a16:creationId xmlns:a16="http://schemas.microsoft.com/office/drawing/2014/main" id="{337A8A06-F340-4B46-A93A-F816B6C7217A}"/>
              </a:ext>
            </a:extLst>
          </p:cNvPr>
          <p:cNvCxnSpPr/>
          <p:nvPr/>
        </p:nvCxnSpPr>
        <p:spPr>
          <a:xfrm>
            <a:off x="2566219" y="4344776"/>
            <a:ext cx="7334239"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rPr dirty="0"/>
              <a:t>From Demo to Real-World Solution</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645920"/>
            <a:ext cx="5486400" cy="3170099"/>
          </a:xfrm>
          <a:prstGeom prst="rect">
            <a:avLst/>
          </a:prstGeom>
          <a:noFill/>
        </p:spPr>
        <p:txBody>
          <a:bodyPr wrap="square">
            <a:spAutoFit/>
          </a:bodyPr>
          <a:lstStyle/>
          <a:p>
            <a:pPr>
              <a:spcAft>
                <a:spcPts val="1200"/>
              </a:spcAft>
              <a:defRPr sz="2000" b="1">
                <a:solidFill>
                  <a:srgbClr val="38BDF8"/>
                </a:solidFill>
                <a:latin typeface="Times New Roman"/>
              </a:defRPr>
            </a:pPr>
            <a:r>
              <a:rPr dirty="0"/>
              <a:t>Transitioning From Demo to Production</a:t>
            </a:r>
          </a:p>
          <a:p>
            <a:pPr>
              <a:spcAft>
                <a:spcPts val="1200"/>
              </a:spcAft>
              <a:defRPr sz="1400">
                <a:solidFill>
                  <a:srgbClr val="FFFFFF"/>
                </a:solidFill>
                <a:latin typeface="Times New Roman"/>
              </a:defRPr>
            </a:pPr>
            <a:r>
              <a:rPr sz="1600" dirty="0"/>
              <a:t>In Week 4, </a:t>
            </a:r>
            <a:r>
              <a:rPr lang="en-IN" sz="1600" dirty="0"/>
              <a:t>the</a:t>
            </a:r>
            <a:r>
              <a:rPr sz="1600" dirty="0"/>
              <a:t> primary goal was upgrading the simple prototype chatbot into an enterprise-ready, context-aware digital learning assistant. We integrated real and simulated company documents, implemented safety access controls, and improved query retrieval quality.</a:t>
            </a:r>
          </a:p>
          <a:p>
            <a:pPr>
              <a:spcAft>
                <a:spcPts val="1200"/>
              </a:spcAft>
              <a:defRPr sz="1300" i="1">
                <a:solidFill>
                  <a:srgbClr val="F97316"/>
                </a:solidFill>
                <a:latin typeface="Times New Roman"/>
              </a:defRPr>
            </a:pPr>
            <a:r>
              <a:rPr sz="1600" dirty="0"/>
              <a:t>💡 Mentor Push:</a:t>
            </a:r>
            <a:br>
              <a:rPr sz="1600" dirty="0"/>
            </a:br>
            <a:r>
              <a:rPr sz="1600" dirty="0"/>
              <a:t>"Would you trust this AI in a real training environment?"</a:t>
            </a:r>
            <a:br>
              <a:rPr sz="1600" dirty="0"/>
            </a:br>
            <a:r>
              <a:rPr sz="1600" dirty="0"/>
              <a:t>To meet this standard, we targeted zero-hallucination vector searches, robust RBAC safety blocks, and 100% accurate contextual grounded Ness.</a:t>
            </a:r>
          </a:p>
        </p:txBody>
      </p:sp>
      <p:sp>
        <p:nvSpPr>
          <p:cNvPr id="5" name="Rounded Rectangle 4"/>
          <p:cNvSpPr/>
          <p:nvPr/>
        </p:nvSpPr>
        <p:spPr>
          <a:xfrm>
            <a:off x="6400800" y="1645920"/>
            <a:ext cx="5239512"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0" y="1783080"/>
            <a:ext cx="4873752" cy="1097280"/>
          </a:xfrm>
          <a:prstGeom prst="rect">
            <a:avLst/>
          </a:prstGeom>
          <a:noFill/>
        </p:spPr>
        <p:txBody>
          <a:bodyPr wrap="square">
            <a:spAutoFit/>
          </a:bodyPr>
          <a:lstStyle/>
          <a:p>
            <a:pPr>
              <a:spcAft>
                <a:spcPts val="800"/>
              </a:spcAft>
              <a:defRPr sz="1600" b="1">
                <a:solidFill>
                  <a:srgbClr val="FFFFFF"/>
                </a:solidFill>
                <a:latin typeface="Times New Roman"/>
              </a:defRPr>
            </a:pPr>
            <a:r>
              <a:rPr dirty="0"/>
              <a:t>1. Domain-Specific RAG Database</a:t>
            </a:r>
          </a:p>
          <a:p>
            <a:pPr>
              <a:spcAft>
                <a:spcPts val="400"/>
              </a:spcAft>
              <a:defRPr sz="1100">
                <a:solidFill>
                  <a:srgbClr val="94A3B8"/>
                </a:solidFill>
                <a:latin typeface="Times New Roman"/>
              </a:defRPr>
            </a:pPr>
            <a:r>
              <a:rPr sz="1400" dirty="0"/>
              <a:t>Indexed leave, onboarding policies, safety codes, bearing manuals, NSDC roles, and Tata reports into separate, dedicated vector collections.</a:t>
            </a:r>
          </a:p>
        </p:txBody>
      </p:sp>
      <p:sp>
        <p:nvSpPr>
          <p:cNvPr id="7" name="Rounded Rectangle 6"/>
          <p:cNvSpPr/>
          <p:nvPr/>
        </p:nvSpPr>
        <p:spPr>
          <a:xfrm>
            <a:off x="6400800" y="3200400"/>
            <a:ext cx="5239512"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3337560"/>
            <a:ext cx="4873752" cy="1087477"/>
          </a:xfrm>
          <a:prstGeom prst="rect">
            <a:avLst/>
          </a:prstGeom>
          <a:noFill/>
        </p:spPr>
        <p:txBody>
          <a:bodyPr wrap="square">
            <a:spAutoFit/>
          </a:bodyPr>
          <a:lstStyle/>
          <a:p>
            <a:pPr>
              <a:spcAft>
                <a:spcPts val="800"/>
              </a:spcAft>
              <a:defRPr sz="1600" b="1">
                <a:solidFill>
                  <a:srgbClr val="FFFFFF"/>
                </a:solidFill>
                <a:latin typeface="Times New Roman"/>
              </a:defRPr>
            </a:pPr>
            <a:r>
              <a:rPr dirty="0"/>
              <a:t>2. Context-Aware Personalization</a:t>
            </a:r>
          </a:p>
          <a:p>
            <a:pPr>
              <a:spcAft>
                <a:spcPts val="400"/>
              </a:spcAft>
              <a:defRPr sz="1100">
                <a:solidFill>
                  <a:srgbClr val="94A3B8"/>
                </a:solidFill>
                <a:latin typeface="Times New Roman"/>
              </a:defRPr>
            </a:pPr>
            <a:r>
              <a:rPr sz="1400" dirty="0"/>
              <a:t>Integrated SQLite DB containing employee profiles (name, current/target role, readiness score) to tailor learning recommendations instead of generic advice.</a:t>
            </a:r>
          </a:p>
        </p:txBody>
      </p:sp>
      <p:sp>
        <p:nvSpPr>
          <p:cNvPr id="9" name="Rounded Rectangle 8"/>
          <p:cNvSpPr/>
          <p:nvPr/>
        </p:nvSpPr>
        <p:spPr>
          <a:xfrm>
            <a:off x="6400800" y="4754880"/>
            <a:ext cx="5239512"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4892040"/>
            <a:ext cx="4873752" cy="1087477"/>
          </a:xfrm>
          <a:prstGeom prst="rect">
            <a:avLst/>
          </a:prstGeom>
          <a:noFill/>
        </p:spPr>
        <p:txBody>
          <a:bodyPr wrap="square">
            <a:spAutoFit/>
          </a:bodyPr>
          <a:lstStyle/>
          <a:p>
            <a:pPr>
              <a:spcAft>
                <a:spcPts val="800"/>
              </a:spcAft>
              <a:defRPr sz="1600" b="1">
                <a:solidFill>
                  <a:srgbClr val="FFFFFF"/>
                </a:solidFill>
                <a:latin typeface="Times New Roman"/>
              </a:defRPr>
            </a:pPr>
            <a:r>
              <a:rPr dirty="0"/>
              <a:t>3. Robust Guardrails &amp; RBAC Security</a:t>
            </a:r>
          </a:p>
          <a:p>
            <a:pPr>
              <a:spcAft>
                <a:spcPts val="400"/>
              </a:spcAft>
              <a:defRPr sz="1100">
                <a:solidFill>
                  <a:srgbClr val="94A3B8"/>
                </a:solidFill>
                <a:latin typeface="Times New Roman"/>
              </a:defRPr>
            </a:pPr>
            <a:r>
              <a:rPr sz="1400" dirty="0"/>
              <a:t>Introduced strict user types (Employee, Manager, etc.) to block access to production data, returning professional block warnings instead of unauthorized info.</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Multi-Agent System Architecture</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645920"/>
            <a:ext cx="4114800" cy="4396075"/>
          </a:xfrm>
          <a:prstGeom prst="rect">
            <a:avLst/>
          </a:prstGeom>
          <a:noFill/>
        </p:spPr>
        <p:txBody>
          <a:bodyPr wrap="square">
            <a:spAutoFit/>
          </a:bodyPr>
          <a:lstStyle/>
          <a:p>
            <a:pPr>
              <a:spcAft>
                <a:spcPts val="1000"/>
              </a:spcAft>
              <a:defRPr sz="1800" b="1">
                <a:solidFill>
                  <a:srgbClr val="38BDF8"/>
                </a:solidFill>
                <a:latin typeface="Times New Roman"/>
              </a:defRPr>
            </a:pPr>
            <a:r>
              <a:rPr dirty="0"/>
              <a:t>Specialist Agent Orchestration</a:t>
            </a:r>
          </a:p>
          <a:p>
            <a:pPr>
              <a:spcAft>
                <a:spcPts val="800"/>
              </a:spcAft>
              <a:defRPr sz="1200">
                <a:solidFill>
                  <a:srgbClr val="94A3B8"/>
                </a:solidFill>
                <a:latin typeface="Times New Roman"/>
              </a:defRPr>
            </a:pPr>
            <a:r>
              <a:rPr sz="1600" dirty="0"/>
              <a:t>Instead of a single large LLM prompt, we deployed five specialized, dedicated agents coordinated by a central Orchestrator. This ensures separation of concerns, high accuracy, and isolated database contexts.</a:t>
            </a:r>
            <a:endParaRPr lang="en-IN" sz="1600" dirty="0"/>
          </a:p>
          <a:p>
            <a:pPr>
              <a:spcAft>
                <a:spcPts val="800"/>
              </a:spcAft>
              <a:defRPr sz="1200">
                <a:solidFill>
                  <a:srgbClr val="94A3B8"/>
                </a:solidFill>
                <a:latin typeface="Times New Roman"/>
              </a:defRPr>
            </a:pPr>
            <a:endParaRPr sz="1600" dirty="0"/>
          </a:p>
          <a:p>
            <a:pPr>
              <a:spcAft>
                <a:spcPts val="1000"/>
              </a:spcAft>
              <a:defRPr sz="1100">
                <a:solidFill>
                  <a:srgbClr val="FFFFFF"/>
                </a:solidFill>
                <a:latin typeface="Times New Roman"/>
              </a:defRPr>
            </a:pPr>
            <a:r>
              <a:rPr sz="1600" dirty="0"/>
              <a:t>Orchestrator Routing Flow:</a:t>
            </a:r>
            <a:br>
              <a:rPr sz="1600" dirty="0"/>
            </a:br>
            <a:r>
              <a:rPr sz="1600" dirty="0"/>
              <a:t>1. User input query received.</a:t>
            </a:r>
            <a:br>
              <a:rPr sz="1600" dirty="0"/>
            </a:br>
            <a:r>
              <a:rPr sz="1600" dirty="0"/>
              <a:t>2. LLM Intent Classifier classifies category.</a:t>
            </a:r>
            <a:br>
              <a:rPr sz="1600" dirty="0"/>
            </a:br>
            <a:r>
              <a:rPr sz="1600" dirty="0"/>
              <a:t>3. Role-Based Access Control (RBAC) checked.</a:t>
            </a:r>
            <a:br>
              <a:rPr sz="1600" dirty="0"/>
            </a:br>
            <a:r>
              <a:rPr sz="1600" dirty="0"/>
              <a:t>4. Routes query to the designated specialist agent.</a:t>
            </a:r>
            <a:br>
              <a:rPr sz="1600" dirty="0"/>
            </a:br>
            <a:r>
              <a:rPr sz="1600" dirty="0"/>
              <a:t>5. Returns structured answer and verified document sources.</a:t>
            </a:r>
          </a:p>
        </p:txBody>
      </p:sp>
      <p:sp>
        <p:nvSpPr>
          <p:cNvPr id="5" name="Rounded Rectangle 4"/>
          <p:cNvSpPr/>
          <p:nvPr/>
        </p:nvSpPr>
        <p:spPr>
          <a:xfrm>
            <a:off x="4846320" y="1419541"/>
            <a:ext cx="3566160" cy="1520594"/>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 name="TextBox 5"/>
          <p:cNvSpPr txBox="1"/>
          <p:nvPr/>
        </p:nvSpPr>
        <p:spPr>
          <a:xfrm>
            <a:off x="4892040" y="1419541"/>
            <a:ext cx="3337560" cy="1538883"/>
          </a:xfrm>
          <a:prstGeom prst="rect">
            <a:avLst/>
          </a:prstGeom>
          <a:noFill/>
        </p:spPr>
        <p:txBody>
          <a:bodyPr wrap="square">
            <a:spAutoFit/>
          </a:bodyPr>
          <a:lstStyle/>
          <a:p>
            <a:pPr>
              <a:spcAft>
                <a:spcPts val="800"/>
              </a:spcAft>
              <a:defRPr sz="1600" b="1">
                <a:solidFill>
                  <a:srgbClr val="FFFFFF"/>
                </a:solidFill>
                <a:latin typeface="Times New Roman"/>
              </a:defRPr>
            </a:pPr>
            <a:r>
              <a:rPr sz="1400" dirty="0"/>
              <a:t>Central Orchestrator</a:t>
            </a:r>
          </a:p>
          <a:p>
            <a:pPr>
              <a:spcAft>
                <a:spcPts val="400"/>
              </a:spcAft>
              <a:defRPr sz="1100">
                <a:solidFill>
                  <a:srgbClr val="94A3B8"/>
                </a:solidFill>
                <a:latin typeface="Times New Roman"/>
              </a:defRPr>
            </a:pPr>
            <a:r>
              <a:rPr sz="1400" dirty="0"/>
              <a:t>Classifies query intent (KNOWLEDGE, HR, MAINTENANCE, LEARNING, PRODUCTION).</a:t>
            </a:r>
          </a:p>
          <a:p>
            <a:pPr>
              <a:spcAft>
                <a:spcPts val="400"/>
              </a:spcAft>
              <a:defRPr sz="1100">
                <a:solidFill>
                  <a:srgbClr val="94A3B8"/>
                </a:solidFill>
                <a:latin typeface="Times New Roman"/>
              </a:defRPr>
            </a:pPr>
            <a:r>
              <a:rPr sz="1400" dirty="0"/>
              <a:t>Enforces RBAC access control matching user types.</a:t>
            </a:r>
          </a:p>
        </p:txBody>
      </p:sp>
      <p:sp>
        <p:nvSpPr>
          <p:cNvPr id="7" name="Rounded Rectangle 6"/>
          <p:cNvSpPr/>
          <p:nvPr/>
        </p:nvSpPr>
        <p:spPr>
          <a:xfrm>
            <a:off x="8541184" y="1402695"/>
            <a:ext cx="3566160" cy="1538883"/>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8" name="TextBox 7"/>
          <p:cNvSpPr txBox="1"/>
          <p:nvPr/>
        </p:nvSpPr>
        <p:spPr>
          <a:xfrm>
            <a:off x="8686800" y="1518118"/>
            <a:ext cx="3043084" cy="1107996"/>
          </a:xfrm>
          <a:prstGeom prst="rect">
            <a:avLst/>
          </a:prstGeom>
          <a:noFill/>
        </p:spPr>
        <p:txBody>
          <a:bodyPr wrap="square">
            <a:spAutoFit/>
          </a:bodyPr>
          <a:lstStyle/>
          <a:p>
            <a:pPr>
              <a:spcAft>
                <a:spcPts val="800"/>
              </a:spcAft>
              <a:defRPr sz="1600" b="1">
                <a:solidFill>
                  <a:srgbClr val="FFFFFF"/>
                </a:solidFill>
                <a:latin typeface="Times New Roman"/>
              </a:defRPr>
            </a:pPr>
            <a:r>
              <a:rPr sz="1400" dirty="0"/>
              <a:t>Knowledge &amp; SOP Agent</a:t>
            </a:r>
          </a:p>
          <a:p>
            <a:pPr>
              <a:spcAft>
                <a:spcPts val="400"/>
              </a:spcAft>
              <a:defRPr sz="1100">
                <a:solidFill>
                  <a:srgbClr val="94A3B8"/>
                </a:solidFill>
                <a:latin typeface="Times New Roman"/>
              </a:defRPr>
            </a:pPr>
            <a:r>
              <a:rPr sz="1400" dirty="0"/>
              <a:t>RAG: Searches safety manuals, NSDC roles, annual and sustainability reports.</a:t>
            </a:r>
          </a:p>
          <a:p>
            <a:pPr>
              <a:spcAft>
                <a:spcPts val="400"/>
              </a:spcAft>
              <a:defRPr sz="1100">
                <a:solidFill>
                  <a:srgbClr val="94A3B8"/>
                </a:solidFill>
                <a:latin typeface="Times New Roman"/>
              </a:defRPr>
            </a:pPr>
            <a:r>
              <a:rPr sz="1400" dirty="0"/>
              <a:t>Utilizes query expansion fallback.</a:t>
            </a:r>
          </a:p>
        </p:txBody>
      </p:sp>
      <p:sp>
        <p:nvSpPr>
          <p:cNvPr id="9" name="Rounded Rectangle 8"/>
          <p:cNvSpPr/>
          <p:nvPr/>
        </p:nvSpPr>
        <p:spPr>
          <a:xfrm>
            <a:off x="4846320" y="3191254"/>
            <a:ext cx="3543300" cy="1520593"/>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0" name="TextBox 9"/>
          <p:cNvSpPr txBox="1"/>
          <p:nvPr/>
        </p:nvSpPr>
        <p:spPr>
          <a:xfrm>
            <a:off x="4892040" y="3322320"/>
            <a:ext cx="3254477" cy="1323439"/>
          </a:xfrm>
          <a:prstGeom prst="rect">
            <a:avLst/>
          </a:prstGeom>
          <a:noFill/>
        </p:spPr>
        <p:txBody>
          <a:bodyPr wrap="square">
            <a:spAutoFit/>
          </a:bodyPr>
          <a:lstStyle/>
          <a:p>
            <a:pPr>
              <a:spcAft>
                <a:spcPts val="800"/>
              </a:spcAft>
              <a:defRPr sz="1600" b="1">
                <a:solidFill>
                  <a:srgbClr val="FFFFFF"/>
                </a:solidFill>
                <a:latin typeface="Times New Roman"/>
              </a:defRPr>
            </a:pPr>
            <a:r>
              <a:rPr sz="1400" dirty="0"/>
              <a:t>HR Support Agent</a:t>
            </a:r>
          </a:p>
          <a:p>
            <a:pPr>
              <a:spcAft>
                <a:spcPts val="400"/>
              </a:spcAft>
              <a:defRPr sz="1100">
                <a:solidFill>
                  <a:srgbClr val="94A3B8"/>
                </a:solidFill>
                <a:latin typeface="Times New Roman"/>
              </a:defRPr>
            </a:pPr>
            <a:r>
              <a:rPr sz="1400" dirty="0"/>
              <a:t>RAG: Searches leaves, benefits and policies.</a:t>
            </a:r>
          </a:p>
          <a:p>
            <a:pPr>
              <a:spcAft>
                <a:spcPts val="400"/>
              </a:spcAft>
              <a:defRPr sz="1100">
                <a:solidFill>
                  <a:srgbClr val="94A3B8"/>
                </a:solidFill>
                <a:latin typeface="Times New Roman"/>
              </a:defRPr>
            </a:pPr>
            <a:r>
              <a:rPr sz="1400" dirty="0" err="1"/>
              <a:t>HyDE</a:t>
            </a:r>
            <a:r>
              <a:rPr sz="1400" dirty="0"/>
              <a:t>-lite translation for Hinglish/Hindi, query refinement loop.</a:t>
            </a:r>
          </a:p>
        </p:txBody>
      </p:sp>
      <p:sp>
        <p:nvSpPr>
          <p:cNvPr id="11" name="Rounded Rectangle 10"/>
          <p:cNvSpPr/>
          <p:nvPr/>
        </p:nvSpPr>
        <p:spPr>
          <a:xfrm>
            <a:off x="8513752" y="3171686"/>
            <a:ext cx="3593591" cy="1520593"/>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2" name="TextBox 11"/>
          <p:cNvSpPr txBox="1"/>
          <p:nvPr/>
        </p:nvSpPr>
        <p:spPr>
          <a:xfrm>
            <a:off x="8686800" y="3270262"/>
            <a:ext cx="2743200" cy="1323439"/>
          </a:xfrm>
          <a:prstGeom prst="rect">
            <a:avLst/>
          </a:prstGeom>
          <a:noFill/>
        </p:spPr>
        <p:txBody>
          <a:bodyPr wrap="square">
            <a:spAutoFit/>
          </a:bodyPr>
          <a:lstStyle/>
          <a:p>
            <a:pPr>
              <a:spcAft>
                <a:spcPts val="800"/>
              </a:spcAft>
              <a:defRPr sz="1600" b="1">
                <a:solidFill>
                  <a:srgbClr val="FFFFFF"/>
                </a:solidFill>
                <a:latin typeface="Times New Roman"/>
              </a:defRPr>
            </a:pPr>
            <a:r>
              <a:rPr sz="1400" dirty="0"/>
              <a:t>Maintenance Agent</a:t>
            </a:r>
          </a:p>
          <a:p>
            <a:pPr>
              <a:spcAft>
                <a:spcPts val="400"/>
              </a:spcAft>
              <a:defRPr sz="1100">
                <a:solidFill>
                  <a:srgbClr val="94A3B8"/>
                </a:solidFill>
                <a:latin typeface="Times New Roman"/>
              </a:defRPr>
            </a:pPr>
            <a:r>
              <a:rPr sz="1400" dirty="0"/>
              <a:t>RAG: Equipment manuals and codes.</a:t>
            </a:r>
          </a:p>
          <a:p>
            <a:pPr>
              <a:spcAft>
                <a:spcPts val="400"/>
              </a:spcAft>
              <a:defRPr sz="1100">
                <a:solidFill>
                  <a:srgbClr val="94A3B8"/>
                </a:solidFill>
                <a:latin typeface="Times New Roman"/>
              </a:defRPr>
            </a:pPr>
            <a:r>
              <a:rPr sz="1400" dirty="0"/>
              <a:t>Direct role-name detection, tiered fallback searching.</a:t>
            </a:r>
          </a:p>
        </p:txBody>
      </p:sp>
      <p:sp>
        <p:nvSpPr>
          <p:cNvPr id="13" name="Rounded Rectangle 12"/>
          <p:cNvSpPr/>
          <p:nvPr/>
        </p:nvSpPr>
        <p:spPr>
          <a:xfrm>
            <a:off x="4846320" y="4962967"/>
            <a:ext cx="3566160"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4" name="TextBox 13"/>
          <p:cNvSpPr txBox="1"/>
          <p:nvPr/>
        </p:nvSpPr>
        <p:spPr>
          <a:xfrm>
            <a:off x="4892040" y="4981256"/>
            <a:ext cx="2834640" cy="1323439"/>
          </a:xfrm>
          <a:prstGeom prst="rect">
            <a:avLst/>
          </a:prstGeom>
          <a:noFill/>
        </p:spPr>
        <p:txBody>
          <a:bodyPr wrap="square">
            <a:spAutoFit/>
          </a:bodyPr>
          <a:lstStyle/>
          <a:p>
            <a:pPr>
              <a:spcAft>
                <a:spcPts val="800"/>
              </a:spcAft>
              <a:defRPr sz="1600" b="1">
                <a:solidFill>
                  <a:srgbClr val="FFFFFF"/>
                </a:solidFill>
                <a:latin typeface="Times New Roman"/>
              </a:defRPr>
            </a:pPr>
            <a:r>
              <a:rPr sz="1400" dirty="0"/>
              <a:t>L&amp;D Learning Agent</a:t>
            </a:r>
          </a:p>
          <a:p>
            <a:pPr>
              <a:spcAft>
                <a:spcPts val="400"/>
              </a:spcAft>
              <a:defRPr sz="1100">
                <a:solidFill>
                  <a:srgbClr val="94A3B8"/>
                </a:solidFill>
                <a:latin typeface="Times New Roman"/>
              </a:defRPr>
            </a:pPr>
            <a:r>
              <a:rPr sz="1400" dirty="0"/>
              <a:t>SQL: Directly queries SQLite database.</a:t>
            </a:r>
          </a:p>
          <a:p>
            <a:pPr>
              <a:spcAft>
                <a:spcPts val="400"/>
              </a:spcAft>
              <a:defRPr sz="1100">
                <a:solidFill>
                  <a:srgbClr val="94A3B8"/>
                </a:solidFill>
                <a:latin typeface="Times New Roman"/>
              </a:defRPr>
            </a:pPr>
            <a:r>
              <a:rPr sz="1400" dirty="0"/>
              <a:t>Extracts readiness score, missing skills, lists courses, dynamic tasks.</a:t>
            </a:r>
          </a:p>
        </p:txBody>
      </p:sp>
      <p:sp>
        <p:nvSpPr>
          <p:cNvPr id="15" name="Rounded Rectangle 14"/>
          <p:cNvSpPr/>
          <p:nvPr/>
        </p:nvSpPr>
        <p:spPr>
          <a:xfrm>
            <a:off x="8513752" y="4987046"/>
            <a:ext cx="3593592"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6" name="TextBox 15"/>
          <p:cNvSpPr txBox="1"/>
          <p:nvPr/>
        </p:nvSpPr>
        <p:spPr>
          <a:xfrm>
            <a:off x="8686800" y="4987046"/>
            <a:ext cx="2743200" cy="1323439"/>
          </a:xfrm>
          <a:prstGeom prst="rect">
            <a:avLst/>
          </a:prstGeom>
          <a:noFill/>
        </p:spPr>
        <p:txBody>
          <a:bodyPr wrap="square">
            <a:spAutoFit/>
          </a:bodyPr>
          <a:lstStyle/>
          <a:p>
            <a:pPr>
              <a:spcAft>
                <a:spcPts val="800"/>
              </a:spcAft>
              <a:defRPr sz="1600" b="1">
                <a:solidFill>
                  <a:srgbClr val="FFFFFF"/>
                </a:solidFill>
                <a:latin typeface="Times New Roman"/>
              </a:defRPr>
            </a:pPr>
            <a:r>
              <a:rPr sz="1400" dirty="0"/>
              <a:t>Production Agent</a:t>
            </a:r>
          </a:p>
          <a:p>
            <a:pPr>
              <a:spcAft>
                <a:spcPts val="400"/>
              </a:spcAft>
              <a:defRPr sz="1100">
                <a:solidFill>
                  <a:srgbClr val="94A3B8"/>
                </a:solidFill>
                <a:latin typeface="Times New Roman"/>
              </a:defRPr>
            </a:pPr>
            <a:r>
              <a:rPr sz="1400" dirty="0"/>
              <a:t>SQL: Aggregates downtime and KPIs from DB.</a:t>
            </a:r>
          </a:p>
          <a:p>
            <a:pPr>
              <a:spcAft>
                <a:spcPts val="400"/>
              </a:spcAft>
              <a:defRPr sz="1100">
                <a:solidFill>
                  <a:srgbClr val="94A3B8"/>
                </a:solidFill>
                <a:latin typeface="Times New Roman"/>
              </a:defRPr>
            </a:pPr>
            <a:r>
              <a:rPr sz="1400" dirty="0"/>
              <a:t>RBAC restriction: Restricted to Managers and Executives.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Specialist RAG Agents &amp; Design Rationale</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1645920"/>
            <a:ext cx="347472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83080"/>
            <a:ext cx="3108960" cy="3713837"/>
          </a:xfrm>
          <a:prstGeom prst="rect">
            <a:avLst/>
          </a:prstGeom>
          <a:noFill/>
        </p:spPr>
        <p:txBody>
          <a:bodyPr wrap="square">
            <a:spAutoFit/>
          </a:bodyPr>
          <a:lstStyle/>
          <a:p>
            <a:pPr>
              <a:spcAft>
                <a:spcPts val="800"/>
              </a:spcAft>
              <a:defRPr sz="1600" b="1">
                <a:solidFill>
                  <a:srgbClr val="FFFFFF"/>
                </a:solidFill>
                <a:latin typeface="Times New Roman"/>
              </a:defRPr>
            </a:pPr>
            <a:r>
              <a:rPr dirty="0"/>
              <a:t>Knowledge &amp; SOP Agent</a:t>
            </a:r>
          </a:p>
          <a:p>
            <a:pPr>
              <a:spcAft>
                <a:spcPts val="400"/>
              </a:spcAft>
              <a:defRPr sz="1100">
                <a:solidFill>
                  <a:srgbClr val="94A3B8"/>
                </a:solidFill>
                <a:latin typeface="Times New Roman"/>
              </a:defRPr>
            </a:pPr>
            <a:r>
              <a:rPr sz="1400" dirty="0"/>
              <a:t>Scope: Company policies, SOPs, safety manual, annual reports, NSDC roles.</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Architecture Highlights:</a:t>
            </a:r>
          </a:p>
          <a:p>
            <a:pPr>
              <a:spcAft>
                <a:spcPts val="400"/>
              </a:spcAft>
              <a:defRPr sz="1100">
                <a:solidFill>
                  <a:srgbClr val="94A3B8"/>
                </a:solidFill>
                <a:latin typeface="Times New Roman"/>
              </a:defRPr>
            </a:pPr>
            <a:r>
              <a:rPr sz="1400" dirty="0"/>
              <a:t>• Targeted Collections: Maps keywords to target specific collections, preventing cross-domain overlap.</a:t>
            </a:r>
          </a:p>
          <a:p>
            <a:pPr>
              <a:spcAft>
                <a:spcPts val="400"/>
              </a:spcAft>
              <a:defRPr sz="1100">
                <a:solidFill>
                  <a:srgbClr val="94A3B8"/>
                </a:solidFill>
                <a:latin typeface="Times New Roman"/>
              </a:defRPr>
            </a:pPr>
            <a:r>
              <a:rPr sz="1400" dirty="0"/>
              <a:t>• Query Expansion: If the initial query returns no matches, an LLM rewrites the query with synonyms/financial terminology.</a:t>
            </a:r>
          </a:p>
          <a:p>
            <a:pPr>
              <a:spcAft>
                <a:spcPts val="400"/>
              </a:spcAft>
              <a:defRPr sz="1100">
                <a:solidFill>
                  <a:srgbClr val="94A3B8"/>
                </a:solidFill>
                <a:latin typeface="Times New Roman"/>
              </a:defRPr>
            </a:pPr>
            <a:r>
              <a:rPr sz="1400" dirty="0"/>
              <a:t>• Clean Source Reporting: Only lists PDF sources if the final generated response actually utilized the context.</a:t>
            </a:r>
          </a:p>
        </p:txBody>
      </p:sp>
      <p:sp>
        <p:nvSpPr>
          <p:cNvPr id="6" name="Rounded Rectangle 5"/>
          <p:cNvSpPr/>
          <p:nvPr/>
        </p:nvSpPr>
        <p:spPr>
          <a:xfrm>
            <a:off x="4297680" y="1645920"/>
            <a:ext cx="347472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0" y="1783080"/>
            <a:ext cx="3108960" cy="3713837"/>
          </a:xfrm>
          <a:prstGeom prst="rect">
            <a:avLst/>
          </a:prstGeom>
          <a:noFill/>
        </p:spPr>
        <p:txBody>
          <a:bodyPr wrap="square">
            <a:spAutoFit/>
          </a:bodyPr>
          <a:lstStyle/>
          <a:p>
            <a:pPr>
              <a:spcAft>
                <a:spcPts val="800"/>
              </a:spcAft>
              <a:defRPr sz="1600" b="1">
                <a:solidFill>
                  <a:srgbClr val="FFFFFF"/>
                </a:solidFill>
                <a:latin typeface="Times New Roman"/>
              </a:defRPr>
            </a:pPr>
            <a:r>
              <a:rPr dirty="0"/>
              <a:t>HR Support Agent</a:t>
            </a:r>
          </a:p>
          <a:p>
            <a:pPr>
              <a:spcAft>
                <a:spcPts val="400"/>
              </a:spcAft>
              <a:defRPr sz="1100">
                <a:solidFill>
                  <a:srgbClr val="94A3B8"/>
                </a:solidFill>
                <a:latin typeface="Times New Roman"/>
              </a:defRPr>
            </a:pPr>
            <a:r>
              <a:rPr sz="1400" dirty="0"/>
              <a:t>Scope: Leaves, payroll, onboarding, probation, benefits, HR policies.</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Architecture Highlights:</a:t>
            </a:r>
          </a:p>
          <a:p>
            <a:pPr>
              <a:spcAft>
                <a:spcPts val="400"/>
              </a:spcAft>
              <a:defRPr sz="1100">
                <a:solidFill>
                  <a:srgbClr val="94A3B8"/>
                </a:solidFill>
                <a:latin typeface="Times New Roman"/>
              </a:defRPr>
            </a:pPr>
            <a:r>
              <a:rPr sz="1400" dirty="0"/>
              <a:t>• </a:t>
            </a:r>
            <a:r>
              <a:rPr sz="1400" dirty="0" err="1"/>
              <a:t>HyDE</a:t>
            </a:r>
            <a:r>
              <a:rPr sz="1400" dirty="0"/>
              <a:t>-lite Query Translation: Translates input query to English for embedding search to match English documents.</a:t>
            </a:r>
          </a:p>
          <a:p>
            <a:pPr>
              <a:spcAft>
                <a:spcPts val="400"/>
              </a:spcAft>
              <a:defRPr sz="1100">
                <a:solidFill>
                  <a:srgbClr val="94A3B8"/>
                </a:solidFill>
                <a:latin typeface="Times New Roman"/>
              </a:defRPr>
            </a:pPr>
            <a:r>
              <a:rPr sz="1400" dirty="0"/>
              <a:t>• Output Match: Responds in the exact input language (Hindi, English, or Hinglish) using tailored prompts.</a:t>
            </a:r>
          </a:p>
          <a:p>
            <a:pPr>
              <a:spcAft>
                <a:spcPts val="400"/>
              </a:spcAft>
              <a:defRPr sz="1100">
                <a:solidFill>
                  <a:srgbClr val="94A3B8"/>
                </a:solidFill>
                <a:latin typeface="Times New Roman"/>
              </a:defRPr>
            </a:pPr>
            <a:r>
              <a:rPr sz="1400" dirty="0"/>
              <a:t>• Sufficiency Check: Employs a self-RAG LLM sufficiency check; expands and retries if context is lacking.</a:t>
            </a:r>
          </a:p>
        </p:txBody>
      </p:sp>
      <p:sp>
        <p:nvSpPr>
          <p:cNvPr id="8" name="Rounded Rectangle 7"/>
          <p:cNvSpPr/>
          <p:nvPr/>
        </p:nvSpPr>
        <p:spPr>
          <a:xfrm>
            <a:off x="8046720" y="1645920"/>
            <a:ext cx="356616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0" y="1783080"/>
            <a:ext cx="3200400" cy="3713837"/>
          </a:xfrm>
          <a:prstGeom prst="rect">
            <a:avLst/>
          </a:prstGeom>
          <a:noFill/>
        </p:spPr>
        <p:txBody>
          <a:bodyPr wrap="square">
            <a:spAutoFit/>
          </a:bodyPr>
          <a:lstStyle/>
          <a:p>
            <a:pPr>
              <a:spcAft>
                <a:spcPts val="800"/>
              </a:spcAft>
              <a:defRPr sz="1600" b="1">
                <a:solidFill>
                  <a:srgbClr val="FFFFFF"/>
                </a:solidFill>
                <a:latin typeface="Times New Roman"/>
              </a:defRPr>
            </a:pPr>
            <a:r>
              <a:rPr dirty="0"/>
              <a:t>Maintenance Agent</a:t>
            </a:r>
          </a:p>
          <a:p>
            <a:pPr>
              <a:spcAft>
                <a:spcPts val="400"/>
              </a:spcAft>
              <a:defRPr sz="1100">
                <a:solidFill>
                  <a:srgbClr val="94A3B8"/>
                </a:solidFill>
                <a:latin typeface="Times New Roman"/>
              </a:defRPr>
            </a:pPr>
            <a:r>
              <a:rPr sz="1400" dirty="0"/>
              <a:t>Scope: Machine vibration, sensor alerts, LOTO procedures, bear operating range.</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Architecture Highlights:</a:t>
            </a:r>
          </a:p>
          <a:p>
            <a:pPr>
              <a:spcAft>
                <a:spcPts val="400"/>
              </a:spcAft>
              <a:defRPr sz="1100">
                <a:solidFill>
                  <a:srgbClr val="94A3B8"/>
                </a:solidFill>
                <a:latin typeface="Times New Roman"/>
              </a:defRPr>
            </a:pPr>
            <a:r>
              <a:rPr sz="1400" dirty="0"/>
              <a:t>• Tiered Search Flow: Searches specific `maintenance` collection first. If empty, falls back to `</a:t>
            </a:r>
            <a:r>
              <a:rPr sz="1400" dirty="0" err="1"/>
              <a:t>role_knowledge</a:t>
            </a:r>
            <a:r>
              <a:rPr sz="1400" dirty="0"/>
              <a:t>` collection.</a:t>
            </a:r>
          </a:p>
          <a:p>
            <a:pPr>
              <a:spcAft>
                <a:spcPts val="400"/>
              </a:spcAft>
              <a:defRPr sz="1100">
                <a:solidFill>
                  <a:srgbClr val="94A3B8"/>
                </a:solidFill>
                <a:latin typeface="Times New Roman"/>
              </a:defRPr>
            </a:pPr>
            <a:r>
              <a:rPr sz="1400" dirty="0"/>
              <a:t>• Role Matching: Scans the query for specific plant roles (e.g. Heating Regulator) and filters search to that metadata field.</a:t>
            </a:r>
          </a:p>
          <a:p>
            <a:pPr>
              <a:spcAft>
                <a:spcPts val="400"/>
              </a:spcAft>
              <a:defRPr sz="1100">
                <a:solidFill>
                  <a:srgbClr val="94A3B8"/>
                </a:solidFill>
                <a:latin typeface="Times New Roman"/>
              </a:defRPr>
            </a:pPr>
            <a:r>
              <a:rPr sz="1400" dirty="0"/>
              <a:t>• Help Desk Escalation: Falls back to Maintenance Supervisor (Ext. 301) for unmentioned safety procedures.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Database-Connected SQL Agents</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1645920"/>
            <a:ext cx="530352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83080"/>
            <a:ext cx="4937760" cy="3549690"/>
          </a:xfrm>
          <a:prstGeom prst="rect">
            <a:avLst/>
          </a:prstGeom>
          <a:noFill/>
        </p:spPr>
        <p:txBody>
          <a:bodyPr wrap="square">
            <a:spAutoFit/>
          </a:bodyPr>
          <a:lstStyle/>
          <a:p>
            <a:pPr>
              <a:spcAft>
                <a:spcPts val="800"/>
              </a:spcAft>
              <a:defRPr sz="1600" b="1">
                <a:solidFill>
                  <a:srgbClr val="FFFFFF"/>
                </a:solidFill>
                <a:latin typeface="Times New Roman"/>
              </a:defRPr>
            </a:pPr>
            <a:r>
              <a:rPr dirty="0"/>
              <a:t>L&amp;D Learning Agent</a:t>
            </a:r>
          </a:p>
          <a:p>
            <a:pPr>
              <a:spcAft>
                <a:spcPts val="400"/>
              </a:spcAft>
              <a:defRPr sz="1100">
                <a:solidFill>
                  <a:srgbClr val="94A3B8"/>
                </a:solidFill>
                <a:latin typeface="Times New Roman"/>
              </a:defRPr>
            </a:pPr>
            <a:r>
              <a:rPr sz="1400" dirty="0"/>
              <a:t>Objective: Access personalization and training career roadmaps.</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Architecture &amp; Implementation Details:</a:t>
            </a:r>
          </a:p>
          <a:p>
            <a:pPr>
              <a:spcAft>
                <a:spcPts val="400"/>
              </a:spcAft>
              <a:defRPr sz="1100">
                <a:solidFill>
                  <a:srgbClr val="94A3B8"/>
                </a:solidFill>
                <a:latin typeface="Times New Roman"/>
              </a:defRPr>
            </a:pPr>
            <a:r>
              <a:rPr sz="1400" dirty="0"/>
              <a:t>• Database Integration: Gathers data from SQLite `users`, `</a:t>
            </a:r>
            <a:r>
              <a:rPr sz="1400" dirty="0" err="1"/>
              <a:t>skill_gap</a:t>
            </a:r>
            <a:r>
              <a:rPr sz="1400" dirty="0"/>
              <a:t>` and `recommendations` tables using </a:t>
            </a:r>
            <a:r>
              <a:rPr sz="1400" dirty="0" err="1"/>
              <a:t>user_id</a:t>
            </a:r>
            <a:r>
              <a:rPr sz="1400" dirty="0"/>
              <a:t>.</a:t>
            </a:r>
          </a:p>
          <a:p>
            <a:pPr>
              <a:spcAft>
                <a:spcPts val="400"/>
              </a:spcAft>
              <a:defRPr sz="1100">
                <a:solidFill>
                  <a:srgbClr val="94A3B8"/>
                </a:solidFill>
                <a:latin typeface="Times New Roman"/>
              </a:defRPr>
            </a:pPr>
            <a:r>
              <a:rPr sz="1400" dirty="0"/>
              <a:t>• Personalized Context: Extracts user metrics like Experience Years, Target Role, Readiness Score, and Missing Skills.</a:t>
            </a:r>
          </a:p>
          <a:p>
            <a:pPr>
              <a:spcAft>
                <a:spcPts val="400"/>
              </a:spcAft>
              <a:defRPr sz="1100">
                <a:solidFill>
                  <a:srgbClr val="94A3B8"/>
                </a:solidFill>
                <a:latin typeface="Times New Roman"/>
              </a:defRPr>
            </a:pPr>
            <a:r>
              <a:rPr sz="1400" dirty="0"/>
              <a:t>• Dynamic Task Customization: Checks query keywords to customize prompt focus. For example, queries about duration prompt a focus on recommended course durations and priority order.</a:t>
            </a:r>
          </a:p>
          <a:p>
            <a:pPr>
              <a:spcAft>
                <a:spcPts val="400"/>
              </a:spcAft>
              <a:defRPr sz="1100">
                <a:solidFill>
                  <a:srgbClr val="94A3B8"/>
                </a:solidFill>
                <a:latin typeface="Times New Roman"/>
              </a:defRPr>
            </a:pPr>
            <a:r>
              <a:rPr sz="1400" dirty="0"/>
              <a:t>• Privacy Protection: Restricts recommendations to the logged-in user only, blocking cross-employee data leaks.</a:t>
            </a:r>
          </a:p>
        </p:txBody>
      </p:sp>
      <p:sp>
        <p:nvSpPr>
          <p:cNvPr id="6" name="Rounded Rectangle 5"/>
          <p:cNvSpPr/>
          <p:nvPr/>
        </p:nvSpPr>
        <p:spPr>
          <a:xfrm>
            <a:off x="6217920" y="1645920"/>
            <a:ext cx="539496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0" y="1783080"/>
            <a:ext cx="5029200" cy="3067506"/>
          </a:xfrm>
          <a:prstGeom prst="rect">
            <a:avLst/>
          </a:prstGeom>
          <a:noFill/>
        </p:spPr>
        <p:txBody>
          <a:bodyPr wrap="square">
            <a:spAutoFit/>
          </a:bodyPr>
          <a:lstStyle/>
          <a:p>
            <a:pPr>
              <a:spcAft>
                <a:spcPts val="800"/>
              </a:spcAft>
              <a:defRPr sz="1600" b="1">
                <a:solidFill>
                  <a:srgbClr val="FFFFFF"/>
                </a:solidFill>
                <a:latin typeface="Times New Roman"/>
              </a:defRPr>
            </a:pPr>
            <a:r>
              <a:rPr dirty="0"/>
              <a:t>Production &amp; KPI Agent</a:t>
            </a:r>
          </a:p>
          <a:p>
            <a:pPr>
              <a:spcAft>
                <a:spcPts val="400"/>
              </a:spcAft>
              <a:defRPr sz="1100">
                <a:solidFill>
                  <a:srgbClr val="94A3B8"/>
                </a:solidFill>
                <a:latin typeface="Times New Roman"/>
              </a:defRPr>
            </a:pPr>
            <a:r>
              <a:rPr sz="1400" dirty="0"/>
              <a:t>Objective: Provide managers/executives with plant efficiency data.</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Architecture &amp; Implementation Details:</a:t>
            </a:r>
          </a:p>
          <a:p>
            <a:pPr>
              <a:spcAft>
                <a:spcPts val="400"/>
              </a:spcAft>
              <a:defRPr sz="1100">
                <a:solidFill>
                  <a:srgbClr val="94A3B8"/>
                </a:solidFill>
                <a:latin typeface="Times New Roman"/>
              </a:defRPr>
            </a:pPr>
            <a:r>
              <a:rPr sz="1400" dirty="0"/>
              <a:t>• Structured SQLite Queries: Queries Unit KPIs (e.g. Unit 3 underperformance) and aggregates downtime reasons (Raw Material Shortage, Power Outage, Equipment Failure).</a:t>
            </a:r>
          </a:p>
          <a:p>
            <a:pPr>
              <a:spcAft>
                <a:spcPts val="400"/>
              </a:spcAft>
              <a:defRPr sz="1100">
                <a:solidFill>
                  <a:srgbClr val="94A3B8"/>
                </a:solidFill>
                <a:latin typeface="Times New Roman"/>
              </a:defRPr>
            </a:pPr>
            <a:r>
              <a:rPr sz="1400" dirty="0"/>
              <a:t>• RBAC Access Control: Integrates directly with the central Orchestrator. The orchestrator checks if the current </a:t>
            </a:r>
            <a:r>
              <a:rPr sz="1400" dirty="0" err="1"/>
              <a:t>user_type</a:t>
            </a:r>
            <a:r>
              <a:rPr sz="1400" dirty="0"/>
              <a:t> is 'Manager' or 'Executive' before routing to this agent.</a:t>
            </a:r>
          </a:p>
          <a:p>
            <a:pPr>
              <a:spcAft>
                <a:spcPts val="400"/>
              </a:spcAft>
              <a:defRPr sz="1100">
                <a:solidFill>
                  <a:srgbClr val="94A3B8"/>
                </a:solidFill>
                <a:latin typeface="Times New Roman"/>
              </a:defRPr>
            </a:pPr>
            <a:r>
              <a:rPr sz="1400" dirty="0"/>
              <a:t>• Secure Rejection: If an Employee or New Joiner asks about Unit downtime, the query is blocked, returning a friendly refusal page.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Development Challenges &amp; Solutions (Part 1)</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1645920"/>
            <a:ext cx="5303520" cy="4389120"/>
          </a:xfrm>
          <a:prstGeom prst="roundRect">
            <a:avLst/>
          </a:prstGeom>
          <a:solidFill>
            <a:srgbClr val="1E293B"/>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83080"/>
            <a:ext cx="4937760" cy="4031873"/>
          </a:xfrm>
          <a:prstGeom prst="rect">
            <a:avLst/>
          </a:prstGeom>
          <a:noFill/>
        </p:spPr>
        <p:txBody>
          <a:bodyPr wrap="square">
            <a:spAutoFit/>
          </a:bodyPr>
          <a:lstStyle/>
          <a:p>
            <a:pPr>
              <a:spcAft>
                <a:spcPts val="800"/>
              </a:spcAft>
              <a:defRPr sz="1600" b="1">
                <a:solidFill>
                  <a:srgbClr val="FFFFFF"/>
                </a:solidFill>
                <a:latin typeface="Times New Roman"/>
              </a:defRPr>
            </a:pPr>
            <a:r>
              <a:rPr sz="1400" dirty="0"/>
              <a:t>Challenge 1: Multilingual Retrieval Performance</a:t>
            </a:r>
          </a:p>
          <a:p>
            <a:pPr>
              <a:spcAft>
                <a:spcPts val="400"/>
              </a:spcAft>
              <a:defRPr sz="1100">
                <a:solidFill>
                  <a:srgbClr val="94A3B8"/>
                </a:solidFill>
                <a:latin typeface="Times New Roman"/>
              </a:defRPr>
            </a:pPr>
            <a:r>
              <a:rPr sz="1400" dirty="0"/>
              <a:t>Problem:</a:t>
            </a:r>
          </a:p>
          <a:p>
            <a:pPr>
              <a:spcAft>
                <a:spcPts val="400"/>
              </a:spcAft>
              <a:defRPr sz="1100">
                <a:solidFill>
                  <a:srgbClr val="94A3B8"/>
                </a:solidFill>
                <a:latin typeface="Times New Roman"/>
              </a:defRPr>
            </a:pPr>
            <a:r>
              <a:rPr sz="1400" dirty="0"/>
              <a:t>Ground-level plant technicians and onboarding employees often search in Hinglish (Hindi written in Roman letters, e.g., '</a:t>
            </a:r>
            <a:r>
              <a:rPr sz="1400" dirty="0" err="1"/>
              <a:t>mujhe</a:t>
            </a:r>
            <a:r>
              <a:rPr sz="1400" dirty="0"/>
              <a:t> </a:t>
            </a:r>
            <a:r>
              <a:rPr sz="1400" dirty="0" err="1"/>
              <a:t>kitni</a:t>
            </a:r>
            <a:r>
              <a:rPr sz="1400" dirty="0"/>
              <a:t> casual leave </a:t>
            </a:r>
            <a:r>
              <a:rPr sz="1400" dirty="0" err="1"/>
              <a:t>milti</a:t>
            </a:r>
            <a:r>
              <a:rPr sz="1400" dirty="0"/>
              <a:t> </a:t>
            </a:r>
            <a:r>
              <a:rPr sz="1400" dirty="0" err="1"/>
              <a:t>hai</a:t>
            </a:r>
            <a:r>
              <a:rPr sz="1400" dirty="0"/>
              <a:t>') or Hindi. Searching directly in English policy documents yielded high vector distances, retrieving irrelevant sections or causing RAG failures.</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Mitigation Strategy: </a:t>
            </a:r>
            <a:r>
              <a:rPr sz="1400" dirty="0" err="1"/>
              <a:t>HyDE</a:t>
            </a:r>
            <a:r>
              <a:rPr sz="1400" dirty="0"/>
              <a:t>-Lite Normalization</a:t>
            </a:r>
          </a:p>
          <a:p>
            <a:pPr>
              <a:spcAft>
                <a:spcPts val="400"/>
              </a:spcAft>
              <a:defRPr sz="1100">
                <a:solidFill>
                  <a:srgbClr val="94A3B8"/>
                </a:solidFill>
                <a:latin typeface="Times New Roman"/>
              </a:defRPr>
            </a:pPr>
            <a:r>
              <a:rPr sz="1400" dirty="0"/>
              <a:t>1. Added a translation layer using Llama-3.1-8B.</a:t>
            </a:r>
          </a:p>
          <a:p>
            <a:pPr>
              <a:spcAft>
                <a:spcPts val="400"/>
              </a:spcAft>
              <a:defRPr sz="1100">
                <a:solidFill>
                  <a:srgbClr val="94A3B8"/>
                </a:solidFill>
                <a:latin typeface="Times New Roman"/>
              </a:defRPr>
            </a:pPr>
            <a:r>
              <a:rPr sz="1400" dirty="0"/>
              <a:t>2. Pre-processed Hinglish/Hindi queries into clear English search queries for vector similarity matching.</a:t>
            </a:r>
          </a:p>
          <a:p>
            <a:pPr>
              <a:spcAft>
                <a:spcPts val="400"/>
              </a:spcAft>
              <a:defRPr sz="1100">
                <a:solidFill>
                  <a:srgbClr val="94A3B8"/>
                </a:solidFill>
                <a:latin typeface="Times New Roman"/>
              </a:defRPr>
            </a:pPr>
            <a:r>
              <a:rPr sz="1400" dirty="0"/>
              <a:t>3. Conducted the final LLM response generation using the original question, ensuring responses match the input language.</a:t>
            </a:r>
          </a:p>
          <a:p>
            <a:pPr>
              <a:spcAft>
                <a:spcPts val="400"/>
              </a:spcAft>
              <a:defRPr sz="1100">
                <a:solidFill>
                  <a:srgbClr val="94A3B8"/>
                </a:solidFill>
                <a:latin typeface="Times New Roman"/>
              </a:defRPr>
            </a:pPr>
            <a:r>
              <a:rPr sz="1400" dirty="0"/>
              <a:t>4. Output: Reduced vector distance from 0.56 to 0.29 (47% improvement).</a:t>
            </a:r>
          </a:p>
        </p:txBody>
      </p:sp>
      <p:sp>
        <p:nvSpPr>
          <p:cNvPr id="6" name="Rounded Rectangle 5"/>
          <p:cNvSpPr/>
          <p:nvPr/>
        </p:nvSpPr>
        <p:spPr>
          <a:xfrm>
            <a:off x="6217920" y="1645920"/>
            <a:ext cx="5394960" cy="4389120"/>
          </a:xfrm>
          <a:prstGeom prst="roundRect">
            <a:avLst/>
          </a:prstGeom>
          <a:solidFill>
            <a:srgbClr val="1E293B"/>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0" y="1783080"/>
            <a:ext cx="5029200" cy="3734356"/>
          </a:xfrm>
          <a:prstGeom prst="rect">
            <a:avLst/>
          </a:prstGeom>
          <a:noFill/>
        </p:spPr>
        <p:txBody>
          <a:bodyPr wrap="square">
            <a:spAutoFit/>
          </a:bodyPr>
          <a:lstStyle/>
          <a:p>
            <a:pPr>
              <a:spcAft>
                <a:spcPts val="800"/>
              </a:spcAft>
              <a:defRPr sz="1600" b="1">
                <a:solidFill>
                  <a:srgbClr val="FFFFFF"/>
                </a:solidFill>
                <a:latin typeface="Times New Roman"/>
              </a:defRPr>
            </a:pPr>
            <a:r>
              <a:rPr sz="1400" dirty="0"/>
              <a:t>Challenge 2: Cross-Domain Chunk Leakage</a:t>
            </a:r>
          </a:p>
          <a:p>
            <a:pPr>
              <a:spcAft>
                <a:spcPts val="400"/>
              </a:spcAft>
              <a:defRPr sz="1100">
                <a:solidFill>
                  <a:srgbClr val="94A3B8"/>
                </a:solidFill>
                <a:latin typeface="Times New Roman"/>
              </a:defRPr>
            </a:pPr>
            <a:r>
              <a:rPr sz="1400" dirty="0"/>
              <a:t>Problem:</a:t>
            </a:r>
          </a:p>
          <a:p>
            <a:pPr>
              <a:spcAft>
                <a:spcPts val="400"/>
              </a:spcAft>
              <a:defRPr sz="1100">
                <a:solidFill>
                  <a:srgbClr val="94A3B8"/>
                </a:solidFill>
                <a:latin typeface="Times New Roman"/>
              </a:defRPr>
            </a:pPr>
            <a:r>
              <a:rPr sz="1400" dirty="0"/>
              <a:t>Vector search across a global database returned unrelated documents due to overlapping keywords. For example, a query about 'welding safety' retrieved HR policy snippets instead of safety manuals because of generic corporate vocabulary.</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Mitigation Strategy: Semantic Targeting</a:t>
            </a:r>
          </a:p>
          <a:p>
            <a:pPr>
              <a:spcAft>
                <a:spcPts val="400"/>
              </a:spcAft>
              <a:defRPr sz="1100">
                <a:solidFill>
                  <a:srgbClr val="94A3B8"/>
                </a:solidFill>
                <a:latin typeface="Times New Roman"/>
              </a:defRPr>
            </a:pPr>
            <a:r>
              <a:rPr sz="1400" dirty="0"/>
              <a:t>1. Reorganized database into separate collections: `</a:t>
            </a:r>
            <a:r>
              <a:rPr sz="1400" dirty="0" err="1"/>
              <a:t>knowledge_safety</a:t>
            </a:r>
            <a:r>
              <a:rPr sz="1400" dirty="0"/>
              <a:t>`, `</a:t>
            </a:r>
            <a:r>
              <a:rPr sz="1400" dirty="0" err="1"/>
              <a:t>knowledge_reports</a:t>
            </a:r>
            <a:r>
              <a:rPr sz="1400" dirty="0"/>
              <a:t>`, `</a:t>
            </a:r>
            <a:r>
              <a:rPr sz="1400" dirty="0" err="1"/>
              <a:t>role_knowledge</a:t>
            </a:r>
            <a:r>
              <a:rPr sz="1400" dirty="0"/>
              <a:t>`, `maintenance`, `</a:t>
            </a:r>
            <a:r>
              <a:rPr sz="1400" dirty="0" err="1"/>
              <a:t>hr_support</a:t>
            </a:r>
            <a:r>
              <a:rPr sz="1400" dirty="0"/>
              <a:t>`.</a:t>
            </a:r>
          </a:p>
          <a:p>
            <a:pPr>
              <a:spcAft>
                <a:spcPts val="400"/>
              </a:spcAft>
              <a:defRPr sz="1100">
                <a:solidFill>
                  <a:srgbClr val="94A3B8"/>
                </a:solidFill>
                <a:latin typeface="Times New Roman"/>
              </a:defRPr>
            </a:pPr>
            <a:r>
              <a:rPr sz="1400" dirty="0"/>
              <a:t>2. The Orchestrator routes the search to specific collections based on classified intent.</a:t>
            </a:r>
          </a:p>
          <a:p>
            <a:pPr>
              <a:spcAft>
                <a:spcPts val="400"/>
              </a:spcAft>
              <a:defRPr sz="1100">
                <a:solidFill>
                  <a:srgbClr val="94A3B8"/>
                </a:solidFill>
                <a:latin typeface="Times New Roman"/>
              </a:defRPr>
            </a:pPr>
            <a:r>
              <a:rPr sz="1400" dirty="0"/>
              <a:t>3. Role Detection: Matches names (e.g. Heating Regulator) in the query and filters search results accordingly.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Development Challenges &amp; Solutions (Part 2)</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1645920"/>
            <a:ext cx="5303520" cy="4389120"/>
          </a:xfrm>
          <a:prstGeom prst="roundRect">
            <a:avLst/>
          </a:prstGeom>
          <a:solidFill>
            <a:srgbClr val="1E293B"/>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83080"/>
            <a:ext cx="4937760" cy="4196020"/>
          </a:xfrm>
          <a:prstGeom prst="rect">
            <a:avLst/>
          </a:prstGeom>
          <a:noFill/>
        </p:spPr>
        <p:txBody>
          <a:bodyPr wrap="square">
            <a:spAutoFit/>
          </a:bodyPr>
          <a:lstStyle/>
          <a:p>
            <a:pPr>
              <a:spcAft>
                <a:spcPts val="800"/>
              </a:spcAft>
              <a:defRPr sz="1600" b="1">
                <a:solidFill>
                  <a:srgbClr val="FFFFFF"/>
                </a:solidFill>
                <a:latin typeface="Times New Roman"/>
              </a:defRPr>
            </a:pPr>
            <a:r>
              <a:rPr dirty="0"/>
              <a:t>Challenge 3: Low Grounded Ness &amp; Hallucinations</a:t>
            </a:r>
          </a:p>
          <a:p>
            <a:pPr>
              <a:spcAft>
                <a:spcPts val="400"/>
              </a:spcAft>
              <a:defRPr sz="1100">
                <a:solidFill>
                  <a:srgbClr val="94A3B8"/>
                </a:solidFill>
                <a:latin typeface="Times New Roman"/>
              </a:defRPr>
            </a:pPr>
            <a:r>
              <a:rPr sz="1400" dirty="0"/>
              <a:t>Problem:</a:t>
            </a:r>
          </a:p>
          <a:p>
            <a:pPr>
              <a:spcAft>
                <a:spcPts val="400"/>
              </a:spcAft>
              <a:defRPr sz="1100">
                <a:solidFill>
                  <a:srgbClr val="94A3B8"/>
                </a:solidFill>
                <a:latin typeface="Times New Roman"/>
              </a:defRPr>
            </a:pPr>
            <a:r>
              <a:rPr sz="1400" dirty="0"/>
              <a:t>The agent evaluation report initially showed an Average Grounded Ness/Faithfulness score of just 20.0%. The LLM commonly cited irrelevant PDFs or hallucinated numbers that were not present in the vector DB chunks.</a:t>
            </a:r>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Mitigation Strategy: Self-RAG &amp; Post-Filters</a:t>
            </a:r>
          </a:p>
          <a:p>
            <a:pPr>
              <a:spcAft>
                <a:spcPts val="400"/>
              </a:spcAft>
              <a:defRPr sz="1100">
                <a:solidFill>
                  <a:srgbClr val="94A3B8"/>
                </a:solidFill>
                <a:latin typeface="Times New Roman"/>
              </a:defRPr>
            </a:pPr>
            <a:r>
              <a:rPr sz="1400" dirty="0"/>
              <a:t>1. Sufficiency Loop: Built a Self-RAG validation check. An LLM judge evaluates if retrieved chunks are sufficient. If not, the query is refined and resubmitted.</a:t>
            </a:r>
          </a:p>
          <a:p>
            <a:pPr>
              <a:spcAft>
                <a:spcPts val="400"/>
              </a:spcAft>
              <a:defRPr sz="1100">
                <a:solidFill>
                  <a:srgbClr val="94A3B8"/>
                </a:solidFill>
                <a:latin typeface="Times New Roman"/>
              </a:defRPr>
            </a:pPr>
            <a:r>
              <a:rPr sz="1400" dirty="0"/>
              <a:t>2. Deduplication Filter: Deduplicates text blocks, preserving the highest-ranked embeddings to fit clean contexts into the LLM context window.</a:t>
            </a:r>
          </a:p>
          <a:p>
            <a:pPr>
              <a:spcAft>
                <a:spcPts val="400"/>
              </a:spcAft>
              <a:defRPr sz="1100">
                <a:solidFill>
                  <a:srgbClr val="94A3B8"/>
                </a:solidFill>
                <a:latin typeface="Times New Roman"/>
              </a:defRPr>
            </a:pPr>
            <a:r>
              <a:rPr sz="1400" dirty="0"/>
              <a:t>3. Source Utilization Validator: A prompt filter checks if the LLM couldn't answer from context. If it answers 'not found', it clears the cited PDF sources.</a:t>
            </a:r>
          </a:p>
        </p:txBody>
      </p:sp>
      <p:sp>
        <p:nvSpPr>
          <p:cNvPr id="6" name="Rounded Rectangle 5"/>
          <p:cNvSpPr/>
          <p:nvPr/>
        </p:nvSpPr>
        <p:spPr>
          <a:xfrm>
            <a:off x="6217920" y="1645920"/>
            <a:ext cx="5394960" cy="4389120"/>
          </a:xfrm>
          <a:prstGeom prst="roundRect">
            <a:avLst/>
          </a:prstGeom>
          <a:solidFill>
            <a:srgbClr val="1E293B"/>
          </a:solidFill>
          <a:ln w="19050">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0" y="1654839"/>
            <a:ext cx="5029200" cy="3919022"/>
          </a:xfrm>
          <a:prstGeom prst="rect">
            <a:avLst/>
          </a:prstGeom>
          <a:noFill/>
        </p:spPr>
        <p:txBody>
          <a:bodyPr wrap="square">
            <a:spAutoFit/>
          </a:bodyPr>
          <a:lstStyle/>
          <a:p>
            <a:pPr algn="ctr">
              <a:spcAft>
                <a:spcPts val="800"/>
              </a:spcAft>
              <a:defRPr sz="1600" b="1">
                <a:solidFill>
                  <a:srgbClr val="FFFFFF"/>
                </a:solidFill>
                <a:latin typeface="Times New Roman"/>
              </a:defRPr>
            </a:pPr>
            <a:r>
              <a:rPr dirty="0"/>
              <a:t>Performance Evaluation Summary</a:t>
            </a:r>
          </a:p>
          <a:p>
            <a:pPr>
              <a:spcAft>
                <a:spcPts val="400"/>
              </a:spcAft>
              <a:defRPr sz="1100">
                <a:solidFill>
                  <a:srgbClr val="94A3B8"/>
                </a:solidFill>
                <a:latin typeface="Times New Roman"/>
              </a:defRPr>
            </a:pPr>
            <a:r>
              <a:rPr sz="1400" dirty="0"/>
              <a:t>Using LLM-as-a-judge (Llama-3.1-8B-instant) on standard test suites: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 Intent Routing Accuracy: 100.0%</a:t>
            </a:r>
          </a:p>
          <a:p>
            <a:pPr>
              <a:spcAft>
                <a:spcPts val="400"/>
              </a:spcAft>
              <a:defRPr sz="1100">
                <a:solidFill>
                  <a:srgbClr val="94A3B8"/>
                </a:solidFill>
                <a:latin typeface="Times New Roman"/>
              </a:defRPr>
            </a:pPr>
            <a:r>
              <a:rPr sz="1400" dirty="0"/>
              <a:t>  The orchestrator routes KNOWLEDGE, HR, LEARNING, PRODUCTION queries with 100% accuracy.</a:t>
            </a:r>
          </a:p>
          <a:p>
            <a:pPr>
              <a:spcAft>
                <a:spcPts val="400"/>
              </a:spcAft>
              <a:defRPr sz="1100">
                <a:solidFill>
                  <a:srgbClr val="94A3B8"/>
                </a:solidFill>
                <a:latin typeface="Times New Roman"/>
              </a:defRPr>
            </a:pPr>
            <a:r>
              <a:rPr sz="1400" dirty="0"/>
              <a:t>• RBAC Safety / Block Accuracy: 100.0%</a:t>
            </a:r>
          </a:p>
          <a:p>
            <a:pPr>
              <a:spcAft>
                <a:spcPts val="400"/>
              </a:spcAft>
              <a:defRPr sz="1100">
                <a:solidFill>
                  <a:srgbClr val="94A3B8"/>
                </a:solidFill>
                <a:latin typeface="Times New Roman"/>
              </a:defRPr>
            </a:pPr>
            <a:r>
              <a:rPr sz="1400" dirty="0"/>
              <a:t>  Employees and New Joiners are successfully blocked from accessing sensitive Unit downtime details.</a:t>
            </a:r>
          </a:p>
          <a:p>
            <a:pPr>
              <a:spcAft>
                <a:spcPts val="400"/>
              </a:spcAft>
              <a:defRPr sz="1100">
                <a:solidFill>
                  <a:srgbClr val="94A3B8"/>
                </a:solidFill>
                <a:latin typeface="Times New Roman"/>
              </a:defRPr>
            </a:pPr>
            <a:r>
              <a:rPr sz="1400" dirty="0"/>
              <a:t>• A</a:t>
            </a:r>
            <a:r>
              <a:rPr lang="en-IN" sz="1400" dirty="0" err="1"/>
              <a:t>nsw</a:t>
            </a:r>
            <a:r>
              <a:rPr sz="1400" dirty="0"/>
              <a:t>er Relevance Score: 90.0%</a:t>
            </a:r>
          </a:p>
          <a:p>
            <a:pPr>
              <a:spcAft>
                <a:spcPts val="400"/>
              </a:spcAft>
              <a:defRPr sz="1100">
                <a:solidFill>
                  <a:srgbClr val="94A3B8"/>
                </a:solidFill>
                <a:latin typeface="Times New Roman"/>
              </a:defRPr>
            </a:pPr>
            <a:r>
              <a:rPr sz="1400" dirty="0"/>
              <a:t>  Answers directly target the employee's intent.</a:t>
            </a:r>
          </a:p>
          <a:p>
            <a:pPr>
              <a:spcAft>
                <a:spcPts val="400"/>
              </a:spcAft>
              <a:defRPr sz="1100">
                <a:solidFill>
                  <a:srgbClr val="94A3B8"/>
                </a:solidFill>
                <a:latin typeface="Times New Roman"/>
              </a:defRPr>
            </a:pPr>
            <a:r>
              <a:rPr sz="1400" dirty="0"/>
              <a:t>• Average Answer Correctness: 60.0%</a:t>
            </a:r>
          </a:p>
          <a:p>
            <a:pPr>
              <a:spcAft>
                <a:spcPts val="400"/>
              </a:spcAft>
              <a:defRPr sz="1100">
                <a:solidFill>
                  <a:srgbClr val="94A3B8"/>
                </a:solidFill>
                <a:latin typeface="Times New Roman"/>
              </a:defRPr>
            </a:pPr>
            <a:r>
              <a:rPr sz="1400" dirty="0"/>
              <a:t>  Factual correctness evaluates to 60.0% matching expected ground truth answers.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Search Distance Improvements (Hinglish vs English)</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645920"/>
            <a:ext cx="4572000" cy="4401205"/>
          </a:xfrm>
          <a:prstGeom prst="rect">
            <a:avLst/>
          </a:prstGeom>
          <a:noFill/>
        </p:spPr>
        <p:txBody>
          <a:bodyPr wrap="square">
            <a:spAutoFit/>
          </a:bodyPr>
          <a:lstStyle/>
          <a:p>
            <a:pPr>
              <a:spcAft>
                <a:spcPts val="1200"/>
              </a:spcAft>
              <a:defRPr sz="2000" b="1">
                <a:solidFill>
                  <a:srgbClr val="38BDF8"/>
                </a:solidFill>
                <a:latin typeface="Times New Roman"/>
              </a:defRPr>
            </a:pPr>
            <a:r>
              <a:rPr dirty="0"/>
              <a:t>Embedding Distance Analysis</a:t>
            </a:r>
          </a:p>
          <a:p>
            <a:pPr>
              <a:spcAft>
                <a:spcPts val="1200"/>
              </a:spcAft>
              <a:defRPr sz="1300">
                <a:solidFill>
                  <a:srgbClr val="FFFFFF"/>
                </a:solidFill>
                <a:latin typeface="Times New Roman"/>
              </a:defRPr>
            </a:pPr>
            <a:r>
              <a:rPr sz="1600" dirty="0"/>
              <a:t>When technicians search in their natural Hinglish syntax, the vector model reports high cosine distance (lower similarity) due to English indexing. By translating Hinglish to English before retrieval, the distance drops significantly, bringing relevant chunks to the top of results.</a:t>
            </a:r>
          </a:p>
          <a:p>
            <a:pPr>
              <a:defRPr sz="1200">
                <a:solidFill>
                  <a:srgbClr val="94A3B8"/>
                </a:solidFill>
                <a:latin typeface="Times New Roman"/>
              </a:defRPr>
            </a:pPr>
            <a:r>
              <a:rPr sz="1600" dirty="0"/>
              <a:t>Key Improvements:</a:t>
            </a:r>
            <a:br>
              <a:rPr sz="1600" dirty="0"/>
            </a:br>
            <a:r>
              <a:rPr sz="1600" dirty="0"/>
              <a:t>• Q1: Casual Leaves (Distance reduced by 47.4%)</a:t>
            </a:r>
            <a:br>
              <a:rPr sz="1600" dirty="0"/>
            </a:br>
            <a:r>
              <a:rPr sz="1600" dirty="0"/>
              <a:t>• Q2: Onboarding (Distance reduced by 22.5%)</a:t>
            </a:r>
            <a:br>
              <a:rPr sz="1600" dirty="0"/>
            </a:br>
            <a:r>
              <a:rPr sz="1600" dirty="0"/>
              <a:t>• Q3: Crusher Vibration (Distance reduced by 37.0%)</a:t>
            </a:r>
            <a:br>
              <a:rPr sz="1600" dirty="0"/>
            </a:br>
            <a:r>
              <a:rPr sz="1600" dirty="0"/>
              <a:t>• Q4: Bearing Temperature (Distance reduced by 17.8%)</a:t>
            </a:r>
            <a:br>
              <a:rPr sz="1600" dirty="0"/>
            </a:br>
            <a:br>
              <a:rPr sz="1600" dirty="0"/>
            </a:br>
            <a:r>
              <a:rPr sz="1600" dirty="0"/>
              <a:t>Average improvement across queries is 31.2%, preventing RAG from retrieving wrong files.</a:t>
            </a:r>
          </a:p>
        </p:txBody>
      </p:sp>
      <p:pic>
        <p:nvPicPr>
          <p:cNvPr id="5" name="Picture 4" descr="distance_chart.png"/>
          <p:cNvPicPr>
            <a:picLocks noChangeAspect="1"/>
          </p:cNvPicPr>
          <p:nvPr/>
        </p:nvPicPr>
        <p:blipFill>
          <a:blip r:embed="rId2"/>
          <a:stretch>
            <a:fillRect/>
          </a:stretch>
        </p:blipFill>
        <p:spPr>
          <a:xfrm>
            <a:off x="5486400" y="1645920"/>
            <a:ext cx="6126480" cy="42976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Query Flow: Specialized RAG Agents</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294968" y="1152783"/>
            <a:ext cx="3728392" cy="5503655"/>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4968" y="1262511"/>
            <a:ext cx="3728392" cy="5257850"/>
          </a:xfrm>
          <a:prstGeom prst="rect">
            <a:avLst/>
          </a:prstGeom>
          <a:noFill/>
        </p:spPr>
        <p:txBody>
          <a:bodyPr wrap="square">
            <a:spAutoFit/>
          </a:bodyPr>
          <a:lstStyle/>
          <a:p>
            <a:pPr algn="ctr">
              <a:spcAft>
                <a:spcPts val="800"/>
              </a:spcAft>
              <a:defRPr sz="1600" b="1">
                <a:solidFill>
                  <a:srgbClr val="FFFFFF"/>
                </a:solidFill>
                <a:latin typeface="Times New Roman"/>
              </a:defRPr>
            </a:pPr>
            <a:r>
              <a:rPr dirty="0"/>
              <a:t>Knowledge &amp; SOP Flow</a:t>
            </a:r>
          </a:p>
          <a:p>
            <a:pPr>
              <a:spcAft>
                <a:spcPts val="400"/>
              </a:spcAft>
              <a:defRPr sz="1000">
                <a:solidFill>
                  <a:srgbClr val="94A3B8"/>
                </a:solidFill>
                <a:latin typeface="Times New Roman"/>
              </a:defRPr>
            </a:pPr>
            <a:r>
              <a:rPr sz="1300" dirty="0"/>
              <a:t>1. User Query Received</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2. Role Detection: Checks for specific plant roles (e.g. Battery Operator) in query.</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3. Collection Targeting: Searches '</a:t>
            </a:r>
            <a:r>
              <a:rPr sz="1300" dirty="0" err="1"/>
              <a:t>role_knowledge</a:t>
            </a:r>
            <a:r>
              <a:rPr sz="1300" dirty="0"/>
              <a:t>' (if role detected), '</a:t>
            </a:r>
            <a:r>
              <a:rPr sz="1300" dirty="0" err="1"/>
              <a:t>knowledge_safety</a:t>
            </a:r>
            <a:r>
              <a:rPr sz="1300" dirty="0"/>
              <a:t>', or '</a:t>
            </a:r>
            <a:r>
              <a:rPr sz="1300" dirty="0" err="1"/>
              <a:t>knowledge_reports</a:t>
            </a:r>
            <a:r>
              <a:rPr sz="1300" dirty="0"/>
              <a:t>' based on keywords.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4. Semantic Search: Queries selected vector DB collections.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5. Fallback Query Expansion: If no chunks hit, LLM expands query with synonyms (annual report, capex, safety) and retries searching all collections.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6. LLM Context Answer: Generates response using context.</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7. Source Filter: Removes PDF sources if final answer states info is not found in context.</a:t>
            </a:r>
          </a:p>
        </p:txBody>
      </p:sp>
      <p:sp>
        <p:nvSpPr>
          <p:cNvPr id="6" name="Rounded Rectangle 5"/>
          <p:cNvSpPr/>
          <p:nvPr/>
        </p:nvSpPr>
        <p:spPr>
          <a:xfrm>
            <a:off x="4213123" y="1207008"/>
            <a:ext cx="3812948" cy="544943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96002" y="1152783"/>
            <a:ext cx="3728391" cy="5257850"/>
          </a:xfrm>
          <a:prstGeom prst="rect">
            <a:avLst/>
          </a:prstGeom>
          <a:noFill/>
        </p:spPr>
        <p:txBody>
          <a:bodyPr wrap="square">
            <a:spAutoFit/>
          </a:bodyPr>
          <a:lstStyle/>
          <a:p>
            <a:pPr algn="ctr">
              <a:spcAft>
                <a:spcPts val="800"/>
              </a:spcAft>
              <a:defRPr sz="1600" b="1">
                <a:solidFill>
                  <a:srgbClr val="FFFFFF"/>
                </a:solidFill>
                <a:latin typeface="Times New Roman"/>
              </a:defRPr>
            </a:pPr>
            <a:r>
              <a:rPr dirty="0"/>
              <a:t>HR Support Flow</a:t>
            </a:r>
          </a:p>
          <a:p>
            <a:pPr>
              <a:spcAft>
                <a:spcPts val="400"/>
              </a:spcAft>
              <a:defRPr sz="1000">
                <a:solidFill>
                  <a:srgbClr val="94A3B8"/>
                </a:solidFill>
                <a:latin typeface="Times New Roman"/>
              </a:defRPr>
            </a:pPr>
            <a:r>
              <a:rPr sz="1300" dirty="0"/>
              <a:t>1. User Query Received</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2. </a:t>
            </a:r>
            <a:r>
              <a:rPr sz="1300" dirty="0" err="1"/>
              <a:t>HyDE</a:t>
            </a:r>
            <a:r>
              <a:rPr sz="1300" dirty="0"/>
              <a:t>-lite translation: LLM translates query (Hindi/Hinglish) into English.</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3. Vector Search: Queries '</a:t>
            </a:r>
            <a:r>
              <a:rPr sz="1300" dirty="0" err="1"/>
              <a:t>hr_support</a:t>
            </a:r>
            <a:r>
              <a:rPr sz="1300" dirty="0"/>
              <a:t>' collection using English query.</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4. Deduplication: Removes duplicate chunks, keeps top scoring results.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5. Sufficiency Check (Self-RAG): LLM checks if context answers query. If insufficient, refines query and retries.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6. Target Language Matching: Generates final response using original query language (Hindi/Hinglish/English).</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7. Output: Combines sources and final multilingual answer.</a:t>
            </a:r>
          </a:p>
        </p:txBody>
      </p:sp>
      <p:sp>
        <p:nvSpPr>
          <p:cNvPr id="8" name="Rounded Rectangle 7"/>
          <p:cNvSpPr/>
          <p:nvPr/>
        </p:nvSpPr>
        <p:spPr>
          <a:xfrm>
            <a:off x="8222716" y="1158144"/>
            <a:ext cx="3812947" cy="5498293"/>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78064" y="1438758"/>
            <a:ext cx="3559277" cy="4457631"/>
          </a:xfrm>
          <a:prstGeom prst="rect">
            <a:avLst/>
          </a:prstGeom>
          <a:noFill/>
        </p:spPr>
        <p:txBody>
          <a:bodyPr wrap="square">
            <a:spAutoFit/>
          </a:bodyPr>
          <a:lstStyle/>
          <a:p>
            <a:pPr algn="ctr">
              <a:spcAft>
                <a:spcPts val="800"/>
              </a:spcAft>
              <a:defRPr sz="1600" b="1">
                <a:solidFill>
                  <a:srgbClr val="FFFFFF"/>
                </a:solidFill>
                <a:latin typeface="Times New Roman"/>
              </a:defRPr>
            </a:pPr>
            <a:r>
              <a:rPr dirty="0"/>
              <a:t>Maintenance Support Flow</a:t>
            </a:r>
          </a:p>
          <a:p>
            <a:pPr>
              <a:spcAft>
                <a:spcPts val="400"/>
              </a:spcAft>
              <a:defRPr sz="1000">
                <a:solidFill>
                  <a:srgbClr val="94A3B8"/>
                </a:solidFill>
                <a:latin typeface="Times New Roman"/>
              </a:defRPr>
            </a:pPr>
            <a:r>
              <a:rPr sz="1300" dirty="0"/>
              <a:t>1. User Query Received</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2. Role Scanner: Scans for job roles in query.</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3. Primary Search: Searches 'maintenance' collection (max distance 0.75).</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4. Secondary Fallback: If no results, searches '</a:t>
            </a:r>
            <a:r>
              <a:rPr sz="1300" dirty="0" err="1"/>
              <a:t>role_knowledge</a:t>
            </a:r>
            <a:r>
              <a:rPr sz="1300" dirty="0"/>
              <a:t>' collection filtered by detected role metadata.</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5. Deduplication: Removes duplicate paragraphs.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6. Context Synthesis: Merges manual sources.</a:t>
            </a:r>
          </a:p>
          <a:p>
            <a:pPr>
              <a:spcAft>
                <a:spcPts val="400"/>
              </a:spcAft>
              <a:defRPr sz="1000">
                <a:solidFill>
                  <a:srgbClr val="94A3B8"/>
                </a:solidFill>
                <a:latin typeface="Times New Roman"/>
              </a:defRPr>
            </a:pPr>
            <a:r>
              <a:rPr sz="1300" dirty="0"/>
              <a:t>   ↓</a:t>
            </a:r>
          </a:p>
          <a:p>
            <a:pPr>
              <a:spcAft>
                <a:spcPts val="400"/>
              </a:spcAft>
              <a:defRPr sz="1000">
                <a:solidFill>
                  <a:srgbClr val="94A3B8"/>
                </a:solidFill>
                <a:latin typeface="Times New Roman"/>
              </a:defRPr>
            </a:pPr>
            <a:r>
              <a:rPr sz="1300" dirty="0"/>
              <a:t>7. Escalation Fallback: If missing, returns response suggesting Maintenance Supervisor (Ext. 301).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320242"/>
            <a:ext cx="11091672" cy="594360"/>
          </a:xfrm>
          <a:prstGeom prst="rect">
            <a:avLst/>
          </a:prstGeom>
          <a:noFill/>
        </p:spPr>
        <p:txBody>
          <a:bodyPr wrap="square">
            <a:spAutoFit/>
          </a:bodyPr>
          <a:lstStyle/>
          <a:p>
            <a:pPr>
              <a:defRPr sz="2400" b="1" u="sng">
                <a:solidFill>
                  <a:srgbClr val="FFFFFF"/>
                </a:solidFill>
                <a:latin typeface="Times New Roman"/>
              </a:defRPr>
            </a:pPr>
            <a:r>
              <a:rPr dirty="0"/>
              <a:t>Query Flow: Database-Connected SQL Agents</a:t>
            </a:r>
          </a:p>
        </p:txBody>
      </p:sp>
      <p:sp>
        <p:nvSpPr>
          <p:cNvPr id="3" name="Rectangle 2"/>
          <p:cNvSpPr/>
          <p:nvPr/>
        </p:nvSpPr>
        <p:spPr>
          <a:xfrm>
            <a:off x="548640" y="100584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1115568"/>
            <a:ext cx="5303520" cy="5542246"/>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327170"/>
            <a:ext cx="4937760" cy="5119350"/>
          </a:xfrm>
          <a:prstGeom prst="rect">
            <a:avLst/>
          </a:prstGeom>
          <a:noFill/>
        </p:spPr>
        <p:txBody>
          <a:bodyPr wrap="square">
            <a:spAutoFit/>
          </a:bodyPr>
          <a:lstStyle/>
          <a:p>
            <a:pPr>
              <a:spcAft>
                <a:spcPts val="800"/>
              </a:spcAft>
              <a:defRPr sz="1600" b="1">
                <a:solidFill>
                  <a:srgbClr val="FFFFFF"/>
                </a:solidFill>
                <a:latin typeface="Times New Roman"/>
              </a:defRPr>
            </a:pPr>
            <a:r>
              <a:rPr sz="1400" dirty="0"/>
              <a:t>L&amp;D Learning Agent Flow</a:t>
            </a:r>
          </a:p>
          <a:p>
            <a:pPr>
              <a:spcAft>
                <a:spcPts val="400"/>
              </a:spcAft>
              <a:defRPr sz="1100">
                <a:solidFill>
                  <a:srgbClr val="94A3B8"/>
                </a:solidFill>
                <a:latin typeface="Times New Roman"/>
              </a:defRPr>
            </a:pPr>
            <a:r>
              <a:rPr sz="1400" dirty="0"/>
              <a:t>1. User Query + User ID Received</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2. SQLite Connection: Opens data/</a:t>
            </a:r>
            <a:r>
              <a:rPr sz="1400" dirty="0" err="1"/>
              <a:t>database.db</a:t>
            </a:r>
            <a:r>
              <a:rPr sz="1400" dirty="0"/>
              <a:t> connection.</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3. Profile Extraction: Queries 'users' table for name, department, current/target role, and experience.</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4. Skill Gap Retrieval: Queries '</a:t>
            </a:r>
            <a:r>
              <a:rPr sz="1400" dirty="0" err="1"/>
              <a:t>skill_gap</a:t>
            </a:r>
            <a:r>
              <a:rPr sz="1400" dirty="0"/>
              <a:t>' table for missing skills list and readiness score.</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5. Course Retrieval: Joins 'recommendations' and 'courses' tables to pull course names, priorities, durations, and skills taught.</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6. Task Classification: Scans query keywords to dynamically focus prompt task (duration focus vs. skill gap focus vs. promotion readiness focus).</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7. LLM Formulation: Generates structured, personalized roadmap strictly based on SQLite details.</a:t>
            </a:r>
          </a:p>
        </p:txBody>
      </p:sp>
      <p:sp>
        <p:nvSpPr>
          <p:cNvPr id="6" name="Rounded Rectangle 5"/>
          <p:cNvSpPr/>
          <p:nvPr/>
        </p:nvSpPr>
        <p:spPr>
          <a:xfrm>
            <a:off x="6217920" y="1115568"/>
            <a:ext cx="5394960" cy="5542246"/>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0" y="1366491"/>
            <a:ext cx="5029200" cy="5150128"/>
          </a:xfrm>
          <a:prstGeom prst="rect">
            <a:avLst/>
          </a:prstGeom>
          <a:noFill/>
        </p:spPr>
        <p:txBody>
          <a:bodyPr wrap="square">
            <a:spAutoFit/>
          </a:bodyPr>
          <a:lstStyle/>
          <a:p>
            <a:pPr>
              <a:spcAft>
                <a:spcPts val="800"/>
              </a:spcAft>
              <a:defRPr sz="1600" b="1">
                <a:solidFill>
                  <a:srgbClr val="FFFFFF"/>
                </a:solidFill>
                <a:latin typeface="Times New Roman"/>
              </a:defRPr>
            </a:pPr>
            <a:r>
              <a:rPr dirty="0"/>
              <a:t>Production KPI Agent Flow</a:t>
            </a:r>
          </a:p>
          <a:p>
            <a:pPr>
              <a:spcAft>
                <a:spcPts val="400"/>
              </a:spcAft>
              <a:defRPr sz="1100">
                <a:solidFill>
                  <a:srgbClr val="94A3B8"/>
                </a:solidFill>
                <a:latin typeface="Times New Roman"/>
              </a:defRPr>
            </a:pPr>
            <a:r>
              <a:rPr sz="1400" dirty="0"/>
              <a:t>1. User Query Received</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2. Orchestrator RBAC authorization check (Employee/New Joiner vs Manager/Executive).</a:t>
            </a:r>
          </a:p>
          <a:p>
            <a:pPr>
              <a:spcAft>
                <a:spcPts val="400"/>
              </a:spcAft>
              <a:defRPr sz="1100">
                <a:solidFill>
                  <a:srgbClr val="94A3B8"/>
                </a:solidFill>
                <a:latin typeface="Times New Roman"/>
              </a:defRPr>
            </a:pPr>
            <a:r>
              <a:rPr sz="1400" dirty="0"/>
              <a:t>   ↓ [Access Denied: Returns access blocked response]</a:t>
            </a:r>
          </a:p>
          <a:p>
            <a:pPr>
              <a:spcAft>
                <a:spcPts val="400"/>
              </a:spcAft>
              <a:defRPr sz="1100">
                <a:solidFill>
                  <a:srgbClr val="94A3B8"/>
                </a:solidFill>
                <a:latin typeface="Times New Roman"/>
              </a:defRPr>
            </a:pPr>
            <a:r>
              <a:rPr sz="1400" dirty="0"/>
              <a:t>3. Access Granted: Orchestrator routes query to Production Agent.</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4. Entity Extraction: Extracts query parameters (e.g. Unit number, departments).</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5. SQLite SQL query: Queries database for plant efficiency, sensor readings, and downtime statistics (Raw Material Shortage, Power Outages, Equipment Faults).</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6. Data Aggregation: Summarizes production KPIs in clean numeric counts.</a:t>
            </a:r>
          </a:p>
          <a:p>
            <a:pPr>
              <a:spcAft>
                <a:spcPts val="400"/>
              </a:spcAft>
              <a:defRPr sz="1100">
                <a:solidFill>
                  <a:srgbClr val="94A3B8"/>
                </a:solidFill>
                <a:latin typeface="Times New Roman"/>
              </a:defRPr>
            </a:pPr>
            <a:r>
              <a:rPr sz="1400" dirty="0"/>
              <a:t>   ↓</a:t>
            </a:r>
          </a:p>
          <a:p>
            <a:pPr>
              <a:spcAft>
                <a:spcPts val="400"/>
              </a:spcAft>
              <a:defRPr sz="1100">
                <a:solidFill>
                  <a:srgbClr val="94A3B8"/>
                </a:solidFill>
                <a:latin typeface="Times New Roman"/>
              </a:defRPr>
            </a:pPr>
            <a:r>
              <a:rPr sz="1400" dirty="0"/>
              <a:t>7. Response Generation: Outputs factual reports and recommendations.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Knowledge Base Structure &amp; Chunking Strategy</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79120" y="1159715"/>
            <a:ext cx="5303520" cy="55262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164087"/>
            <a:ext cx="4937760" cy="5437386"/>
          </a:xfrm>
          <a:prstGeom prst="rect">
            <a:avLst/>
          </a:prstGeom>
          <a:noFill/>
        </p:spPr>
        <p:txBody>
          <a:bodyPr wrap="square">
            <a:spAutoFit/>
          </a:bodyPr>
          <a:lstStyle/>
          <a:p>
            <a:pPr algn="ctr">
              <a:spcAft>
                <a:spcPts val="800"/>
              </a:spcAft>
              <a:defRPr sz="1600" b="1">
                <a:solidFill>
                  <a:srgbClr val="FFFFFF"/>
                </a:solidFill>
                <a:latin typeface="Times New Roman"/>
              </a:defRPr>
            </a:pPr>
            <a:r>
              <a:rPr sz="1400" dirty="0"/>
              <a:t>Knowledge Base Collections &amp; Source Files</a:t>
            </a:r>
          </a:p>
          <a:p>
            <a:pPr>
              <a:spcAft>
                <a:spcPts val="400"/>
              </a:spcAft>
              <a:defRPr sz="1100">
                <a:solidFill>
                  <a:srgbClr val="94A3B8"/>
                </a:solidFill>
                <a:latin typeface="Times New Roman"/>
              </a:defRPr>
            </a:pPr>
            <a:r>
              <a:rPr sz="1400" dirty="0"/>
              <a:t>Our RAG database uses </a:t>
            </a:r>
            <a:r>
              <a:rPr sz="1400" dirty="0" err="1"/>
              <a:t>ChromaDB</a:t>
            </a:r>
            <a:r>
              <a:rPr sz="1400" dirty="0"/>
              <a:t> with 5 dedicated collections to prevent cross-domain search contamination:</a:t>
            </a:r>
          </a:p>
          <a:p>
            <a:pPr>
              <a:spcAft>
                <a:spcPts val="400"/>
              </a:spcAft>
              <a:defRPr sz="1100">
                <a:solidFill>
                  <a:srgbClr val="94A3B8"/>
                </a:solidFill>
                <a:latin typeface="Times New Roman"/>
              </a:defRPr>
            </a:pPr>
            <a:r>
              <a:rPr sz="1400" dirty="0"/>
              <a:t>1. `</a:t>
            </a:r>
            <a:r>
              <a:rPr sz="1400" dirty="0" err="1"/>
              <a:t>knowledge_safety</a:t>
            </a:r>
            <a:r>
              <a:rPr sz="1400" dirty="0"/>
              <a:t>` collection</a:t>
            </a:r>
          </a:p>
          <a:p>
            <a:pPr>
              <a:spcAft>
                <a:spcPts val="400"/>
              </a:spcAft>
              <a:defRPr sz="1100">
                <a:solidFill>
                  <a:srgbClr val="94A3B8"/>
                </a:solidFill>
                <a:latin typeface="Times New Roman"/>
              </a:defRPr>
            </a:pPr>
            <a:r>
              <a:rPr sz="1400" dirty="0"/>
              <a:t>   - File: `safety_manual.pdf` (Chemical spills, fire, LOTO, PPE codes)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2. `</a:t>
            </a:r>
            <a:r>
              <a:rPr sz="1400" dirty="0" err="1"/>
              <a:t>knowledge_reports</a:t>
            </a:r>
            <a:r>
              <a:rPr sz="1400" dirty="0"/>
              <a:t>` collection</a:t>
            </a:r>
          </a:p>
          <a:p>
            <a:pPr>
              <a:spcAft>
                <a:spcPts val="400"/>
              </a:spcAft>
              <a:defRPr sz="1100">
                <a:solidFill>
                  <a:srgbClr val="94A3B8"/>
                </a:solidFill>
                <a:latin typeface="Times New Roman"/>
              </a:defRPr>
            </a:pPr>
            <a:r>
              <a:rPr sz="1400" dirty="0"/>
              <a:t>   - Files: `tata_annual_report_2025.pdf`, `sustainability_2024.pdf` (EBITDA, capex, ESG parameters)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3. `</a:t>
            </a:r>
            <a:r>
              <a:rPr sz="1400" dirty="0" err="1"/>
              <a:t>role_knowledge</a:t>
            </a:r>
            <a:r>
              <a:rPr sz="1400" dirty="0"/>
              <a:t>` collection</a:t>
            </a:r>
          </a:p>
          <a:p>
            <a:pPr>
              <a:spcAft>
                <a:spcPts val="400"/>
              </a:spcAft>
              <a:defRPr sz="1100">
                <a:solidFill>
                  <a:srgbClr val="94A3B8"/>
                </a:solidFill>
                <a:latin typeface="Times New Roman"/>
              </a:defRPr>
            </a:pPr>
            <a:r>
              <a:rPr sz="1400" dirty="0"/>
              <a:t>   - Files: NSDC role outline PDFs (Heating Regulator, Battery Operator, Control Room, etc.)</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4. `maintenance` collection</a:t>
            </a:r>
          </a:p>
          <a:p>
            <a:pPr>
              <a:spcAft>
                <a:spcPts val="400"/>
              </a:spcAft>
              <a:defRPr sz="1100">
                <a:solidFill>
                  <a:srgbClr val="94A3B8"/>
                </a:solidFill>
                <a:latin typeface="Times New Roman"/>
              </a:defRPr>
            </a:pPr>
            <a:r>
              <a:rPr sz="1400" dirty="0"/>
              <a:t>   - File: `maintenance_manual.pdf` (Bearing temps, crusher vibrations, PM schedules)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5. `</a:t>
            </a:r>
            <a:r>
              <a:rPr sz="1400" dirty="0" err="1"/>
              <a:t>hr_support</a:t>
            </a:r>
            <a:r>
              <a:rPr sz="1400" dirty="0"/>
              <a:t>` collection</a:t>
            </a:r>
          </a:p>
          <a:p>
            <a:pPr>
              <a:spcAft>
                <a:spcPts val="400"/>
              </a:spcAft>
              <a:defRPr sz="1100">
                <a:solidFill>
                  <a:srgbClr val="94A3B8"/>
                </a:solidFill>
                <a:latin typeface="Times New Roman"/>
              </a:defRPr>
            </a:pPr>
            <a:r>
              <a:rPr sz="1400" dirty="0"/>
              <a:t>   - Files: `hr_policy.pdf`, `leave_policy.pdf`,`onboarding_doc.pdf`</a:t>
            </a:r>
          </a:p>
        </p:txBody>
      </p:sp>
      <p:sp>
        <p:nvSpPr>
          <p:cNvPr id="6" name="Rounded Rectangle 5"/>
          <p:cNvSpPr/>
          <p:nvPr/>
        </p:nvSpPr>
        <p:spPr>
          <a:xfrm>
            <a:off x="6096000" y="1159715"/>
            <a:ext cx="5516880" cy="55262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31280" y="1079615"/>
            <a:ext cx="5029200" cy="5622052"/>
          </a:xfrm>
          <a:prstGeom prst="rect">
            <a:avLst/>
          </a:prstGeom>
          <a:noFill/>
        </p:spPr>
        <p:txBody>
          <a:bodyPr wrap="square">
            <a:spAutoFit/>
          </a:bodyPr>
          <a:lstStyle/>
          <a:p>
            <a:pPr algn="ctr">
              <a:spcAft>
                <a:spcPts val="800"/>
              </a:spcAft>
              <a:defRPr sz="1600" b="1">
                <a:solidFill>
                  <a:srgbClr val="FFFFFF"/>
                </a:solidFill>
                <a:latin typeface="Times New Roman"/>
              </a:defRPr>
            </a:pPr>
            <a:r>
              <a:rPr sz="1400" dirty="0"/>
              <a:t>Chunk Size &amp; Overlap Strategy Rationale</a:t>
            </a:r>
          </a:p>
          <a:p>
            <a:pPr>
              <a:spcAft>
                <a:spcPts val="400"/>
              </a:spcAft>
              <a:defRPr sz="1100">
                <a:solidFill>
                  <a:srgbClr val="94A3B8"/>
                </a:solidFill>
                <a:latin typeface="Times New Roman"/>
              </a:defRPr>
            </a:pPr>
            <a:r>
              <a:rPr sz="1400" dirty="0"/>
              <a:t>Chunking configurations are tailored specifically to the structural layout of each file type:</a:t>
            </a:r>
            <a:endParaRPr sz="1200" dirty="0"/>
          </a:p>
          <a:p>
            <a:pPr>
              <a:spcAft>
                <a:spcPts val="400"/>
              </a:spcAft>
              <a:defRPr sz="1100">
                <a:solidFill>
                  <a:srgbClr val="94A3B8"/>
                </a:solidFill>
                <a:latin typeface="Times New Roman"/>
              </a:defRPr>
            </a:pPr>
            <a:r>
              <a:rPr sz="1400" dirty="0"/>
              <a:t>• Safety (Size 250 / Overlap 50 words)</a:t>
            </a:r>
          </a:p>
          <a:p>
            <a:pPr>
              <a:spcAft>
                <a:spcPts val="400"/>
              </a:spcAft>
              <a:defRPr sz="1100">
                <a:solidFill>
                  <a:srgbClr val="94A3B8"/>
                </a:solidFill>
                <a:latin typeface="Times New Roman"/>
              </a:defRPr>
            </a:pPr>
            <a:r>
              <a:rPr sz="1400" dirty="0"/>
              <a:t>  Rationale: Keeps sequential step-by-step procedures unified in a single block without truncation.</a:t>
            </a:r>
          </a:p>
          <a:p>
            <a:pPr>
              <a:spcAft>
                <a:spcPts val="400"/>
              </a:spcAft>
              <a:defRPr sz="1100">
                <a:solidFill>
                  <a:srgbClr val="94A3B8"/>
                </a:solidFill>
                <a:latin typeface="Times New Roman"/>
              </a:defRPr>
            </a:pPr>
            <a:r>
              <a:rPr sz="1400" dirty="0"/>
              <a:t>• Reports (Size 250 / Overlap 50 words)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  Rationale: Captures surrounding financial context and comparisons necessary for dense tables or financial metrics.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 Role Knowledge (Size 200 / Overlap 40 words)</a:t>
            </a:r>
          </a:p>
          <a:p>
            <a:pPr>
              <a:spcAft>
                <a:spcPts val="400"/>
              </a:spcAft>
              <a:defRPr sz="1100">
                <a:solidFill>
                  <a:srgbClr val="94A3B8"/>
                </a:solidFill>
                <a:latin typeface="Times New Roman"/>
              </a:defRPr>
            </a:pPr>
            <a:r>
              <a:rPr sz="1400" dirty="0"/>
              <a:t>  Rationale: NSDC PDFs are bullet-heavy. 200 words captures entire individual competency blocks cleanly.</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 Maintenance (Size 180 / Overlap 40 words)</a:t>
            </a:r>
          </a:p>
          <a:p>
            <a:pPr>
              <a:spcAft>
                <a:spcPts val="400"/>
              </a:spcAft>
              <a:defRPr sz="1100">
                <a:solidFill>
                  <a:srgbClr val="94A3B8"/>
                </a:solidFill>
                <a:latin typeface="Times New Roman"/>
              </a:defRPr>
            </a:pPr>
            <a:r>
              <a:rPr sz="1400" dirty="0"/>
              <a:t>  Rationale: Keeps troubleshooting guidelines concise to isolate specific errors and limit noise from other machine manual sections.</a:t>
            </a:r>
            <a:endParaRPr lang="en-IN" sz="1400" dirty="0"/>
          </a:p>
          <a:p>
            <a:pPr>
              <a:spcAft>
                <a:spcPts val="400"/>
              </a:spcAft>
              <a:defRPr sz="1100">
                <a:solidFill>
                  <a:srgbClr val="94A3B8"/>
                </a:solidFill>
                <a:latin typeface="Times New Roman"/>
              </a:defRPr>
            </a:pPr>
            <a:endParaRPr sz="1400" dirty="0"/>
          </a:p>
          <a:p>
            <a:pPr>
              <a:spcAft>
                <a:spcPts val="400"/>
              </a:spcAft>
              <a:defRPr sz="1100">
                <a:solidFill>
                  <a:srgbClr val="94A3B8"/>
                </a:solidFill>
                <a:latin typeface="Times New Roman"/>
              </a:defRPr>
            </a:pPr>
            <a:r>
              <a:rPr sz="1400" dirty="0"/>
              <a:t>• HR Support (Size 120 / Overlap 30 words)</a:t>
            </a:r>
          </a:p>
          <a:p>
            <a:pPr>
              <a:spcAft>
                <a:spcPts val="400"/>
              </a:spcAft>
              <a:defRPr sz="1100">
                <a:solidFill>
                  <a:srgbClr val="94A3B8"/>
                </a:solidFill>
                <a:latin typeface="Times New Roman"/>
              </a:defRPr>
            </a:pPr>
            <a:r>
              <a:rPr sz="1400" dirty="0"/>
              <a:t>  Rationale: HR policies contain short standalone rules (e.g. leave days). Tiny chunks pinpoint rules precisely, preventing leakage.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System Demonstration &amp; Screenshots</a:t>
            </a:r>
          </a:p>
        </p:txBody>
      </p:sp>
      <p:sp>
        <p:nvSpPr>
          <p:cNvPr id="3" name="Rectangle 2"/>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a:extLst>
              <a:ext uri="{FF2B5EF4-FFF2-40B4-BE49-F238E27FC236}">
                <a16:creationId xmlns:a16="http://schemas.microsoft.com/office/drawing/2014/main" id="{F8336145-B370-14DA-4E68-DDAFA5EEFEDF}"/>
              </a:ext>
            </a:extLst>
          </p:cNvPr>
          <p:cNvPicPr>
            <a:picLocks noChangeAspect="1"/>
          </p:cNvPicPr>
          <p:nvPr/>
        </p:nvPicPr>
        <p:blipFill>
          <a:blip r:embed="rId2"/>
          <a:stretch>
            <a:fillRect/>
          </a:stretch>
        </p:blipFill>
        <p:spPr>
          <a:xfrm>
            <a:off x="6211355" y="1001630"/>
            <a:ext cx="5980645" cy="5372654"/>
          </a:xfrm>
          <a:prstGeom prst="rect">
            <a:avLst/>
          </a:prstGeom>
          <a:ln>
            <a:noFill/>
          </a:ln>
          <a:effectLst>
            <a:softEdge rad="112500"/>
          </a:effectLst>
        </p:spPr>
      </p:pic>
      <p:pic>
        <p:nvPicPr>
          <p:cNvPr id="18" name="Picture 17">
            <a:extLst>
              <a:ext uri="{FF2B5EF4-FFF2-40B4-BE49-F238E27FC236}">
                <a16:creationId xmlns:a16="http://schemas.microsoft.com/office/drawing/2014/main" id="{4FEC510E-8564-DF29-5C67-43EE42FD53FD}"/>
              </a:ext>
            </a:extLst>
          </p:cNvPr>
          <p:cNvPicPr>
            <a:picLocks noChangeAspect="1"/>
          </p:cNvPicPr>
          <p:nvPr/>
        </p:nvPicPr>
        <p:blipFill>
          <a:blip r:embed="rId3"/>
          <a:stretch>
            <a:fillRect/>
          </a:stretch>
        </p:blipFill>
        <p:spPr>
          <a:xfrm>
            <a:off x="214613" y="1225296"/>
            <a:ext cx="5766033" cy="5167276"/>
          </a:xfrm>
          <a:prstGeom prst="rect">
            <a:avLst/>
          </a:prstGeom>
          <a:ln>
            <a:noFill/>
          </a:ln>
          <a:effectLst>
            <a:softEdge rad="11250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7F00F2E0-8FF1-279D-C4FE-5FA2BF1F6B0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A976AC-5FA8-C2D0-1732-C863CC922843}"/>
              </a:ext>
            </a:extLst>
          </p:cNvPr>
          <p:cNvSpPr txBox="1"/>
          <p:nvPr/>
        </p:nvSpPr>
        <p:spPr>
          <a:xfrm>
            <a:off x="548640" y="411480"/>
            <a:ext cx="11091672" cy="594360"/>
          </a:xfrm>
          <a:prstGeom prst="rect">
            <a:avLst/>
          </a:prstGeom>
          <a:noFill/>
        </p:spPr>
        <p:txBody>
          <a:bodyPr wrap="square">
            <a:spAutoFit/>
          </a:bodyPr>
          <a:lstStyle/>
          <a:p>
            <a:pPr>
              <a:defRPr sz="2400" b="1" u="sng">
                <a:solidFill>
                  <a:srgbClr val="FFFFFF"/>
                </a:solidFill>
                <a:latin typeface="Times New Roman"/>
              </a:defRPr>
            </a:pPr>
            <a:r>
              <a:t>System Demonstration &amp; Screenshots</a:t>
            </a:r>
          </a:p>
        </p:txBody>
      </p:sp>
      <p:sp>
        <p:nvSpPr>
          <p:cNvPr id="3" name="Rectangle 2">
            <a:extLst>
              <a:ext uri="{FF2B5EF4-FFF2-40B4-BE49-F238E27FC236}">
                <a16:creationId xmlns:a16="http://schemas.microsoft.com/office/drawing/2014/main" id="{8DAD0D52-52C6-138B-A64E-96BD11F3602E}"/>
              </a:ext>
            </a:extLst>
          </p:cNvPr>
          <p:cNvSpPr/>
          <p:nvPr/>
        </p:nvSpPr>
        <p:spPr>
          <a:xfrm>
            <a:off x="548640" y="1097280"/>
            <a:ext cx="11091672"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a:extLst>
              <a:ext uri="{FF2B5EF4-FFF2-40B4-BE49-F238E27FC236}">
                <a16:creationId xmlns:a16="http://schemas.microsoft.com/office/drawing/2014/main" id="{D363145F-5104-D338-2422-990AEB855A36}"/>
              </a:ext>
            </a:extLst>
          </p:cNvPr>
          <p:cNvPicPr>
            <a:picLocks noChangeAspect="1"/>
          </p:cNvPicPr>
          <p:nvPr/>
        </p:nvPicPr>
        <p:blipFill>
          <a:blip r:embed="rId2"/>
          <a:stretch>
            <a:fillRect/>
          </a:stretch>
        </p:blipFill>
        <p:spPr>
          <a:xfrm>
            <a:off x="116803" y="1115568"/>
            <a:ext cx="6230849" cy="5646707"/>
          </a:xfrm>
          <a:prstGeom prst="rect">
            <a:avLst/>
          </a:prstGeom>
          <a:ln>
            <a:noFill/>
          </a:ln>
          <a:effectLst>
            <a:softEdge rad="112500"/>
          </a:effectLst>
        </p:spPr>
      </p:pic>
      <p:pic>
        <p:nvPicPr>
          <p:cNvPr id="13" name="Picture 12">
            <a:extLst>
              <a:ext uri="{FF2B5EF4-FFF2-40B4-BE49-F238E27FC236}">
                <a16:creationId xmlns:a16="http://schemas.microsoft.com/office/drawing/2014/main" id="{9B049B18-3159-568F-F5DF-DB968C4609CF}"/>
              </a:ext>
            </a:extLst>
          </p:cNvPr>
          <p:cNvPicPr>
            <a:picLocks noChangeAspect="1"/>
          </p:cNvPicPr>
          <p:nvPr/>
        </p:nvPicPr>
        <p:blipFill>
          <a:blip r:embed="rId3"/>
          <a:stretch>
            <a:fillRect/>
          </a:stretch>
        </p:blipFill>
        <p:spPr>
          <a:xfrm>
            <a:off x="7161377" y="114013"/>
            <a:ext cx="4611185" cy="4183689"/>
          </a:xfrm>
          <a:prstGeom prst="rect">
            <a:avLst/>
          </a:prstGeom>
          <a:ln>
            <a:noFill/>
          </a:ln>
          <a:effectLst>
            <a:softEdge rad="112500"/>
          </a:effectLst>
        </p:spPr>
      </p:pic>
      <p:pic>
        <p:nvPicPr>
          <p:cNvPr id="15" name="Picture 14">
            <a:extLst>
              <a:ext uri="{FF2B5EF4-FFF2-40B4-BE49-F238E27FC236}">
                <a16:creationId xmlns:a16="http://schemas.microsoft.com/office/drawing/2014/main" id="{5814EB93-CFFA-C86E-1B06-A0A31677C327}"/>
              </a:ext>
            </a:extLst>
          </p:cNvPr>
          <p:cNvPicPr>
            <a:picLocks noChangeAspect="1"/>
          </p:cNvPicPr>
          <p:nvPr/>
        </p:nvPicPr>
        <p:blipFill>
          <a:blip r:embed="rId4"/>
          <a:stretch>
            <a:fillRect/>
          </a:stretch>
        </p:blipFill>
        <p:spPr>
          <a:xfrm>
            <a:off x="6538596" y="3203981"/>
            <a:ext cx="5368730" cy="3540006"/>
          </a:xfrm>
          <a:prstGeom prst="rect">
            <a:avLst/>
          </a:prstGeom>
          <a:ln>
            <a:noFill/>
          </a:ln>
          <a:effectLst>
            <a:softEdge rad="112500"/>
          </a:effectLst>
        </p:spPr>
      </p:pic>
    </p:spTree>
    <p:extLst>
      <p:ext uri="{BB962C8B-B14F-4D97-AF65-F5344CB8AC3E}">
        <p14:creationId xmlns:p14="http://schemas.microsoft.com/office/powerpoint/2010/main" val="32355629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96F4F5BF-AE27-28E5-8DB8-099FF170F17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E9B923C-753A-FA89-A0B0-107547305791}"/>
              </a:ext>
            </a:extLst>
          </p:cNvPr>
          <p:cNvSpPr txBox="1"/>
          <p:nvPr/>
        </p:nvSpPr>
        <p:spPr>
          <a:xfrm>
            <a:off x="273337" y="3386619"/>
            <a:ext cx="2145399" cy="1200329"/>
          </a:xfrm>
          <a:prstGeom prst="rect">
            <a:avLst/>
          </a:prstGeom>
          <a:noFill/>
        </p:spPr>
        <p:txBody>
          <a:bodyPr wrap="square">
            <a:spAutoFit/>
          </a:bodyPr>
          <a:lstStyle/>
          <a:p>
            <a:pPr>
              <a:defRPr sz="2400" b="1" u="sng">
                <a:solidFill>
                  <a:srgbClr val="FFFFFF"/>
                </a:solidFill>
                <a:latin typeface="Times New Roman"/>
              </a:defRPr>
            </a:pPr>
            <a:r>
              <a:rPr dirty="0"/>
              <a:t>System Demonstration &amp; Screenshots</a:t>
            </a:r>
          </a:p>
        </p:txBody>
      </p:sp>
      <p:pic>
        <p:nvPicPr>
          <p:cNvPr id="11" name="Picture 10">
            <a:extLst>
              <a:ext uri="{FF2B5EF4-FFF2-40B4-BE49-F238E27FC236}">
                <a16:creationId xmlns:a16="http://schemas.microsoft.com/office/drawing/2014/main" id="{47B983F6-526B-BBAE-1B94-A02969C69069}"/>
              </a:ext>
            </a:extLst>
          </p:cNvPr>
          <p:cNvPicPr>
            <a:picLocks noChangeAspect="1"/>
          </p:cNvPicPr>
          <p:nvPr/>
        </p:nvPicPr>
        <p:blipFill>
          <a:blip r:embed="rId2"/>
          <a:stretch>
            <a:fillRect/>
          </a:stretch>
        </p:blipFill>
        <p:spPr>
          <a:xfrm>
            <a:off x="3264309" y="157316"/>
            <a:ext cx="8052619" cy="6622026"/>
          </a:xfrm>
          <a:prstGeom prst="rect">
            <a:avLst/>
          </a:prstGeom>
          <a:ln>
            <a:noFill/>
          </a:ln>
          <a:effectLst>
            <a:softEdge rad="112500"/>
          </a:effectLst>
        </p:spPr>
      </p:pic>
    </p:spTree>
    <p:extLst>
      <p:ext uri="{BB962C8B-B14F-4D97-AF65-F5344CB8AC3E}">
        <p14:creationId xmlns:p14="http://schemas.microsoft.com/office/powerpoint/2010/main" val="548288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123</TotalTime>
  <Words>2572</Words>
  <Application>Microsoft Office PowerPoint</Application>
  <PresentationFormat>Widescreen</PresentationFormat>
  <Paragraphs>229</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Vaibhav Kumar</cp:lastModifiedBy>
  <cp:revision>3</cp:revision>
  <dcterms:created xsi:type="dcterms:W3CDTF">2013-01-27T09:14:16Z</dcterms:created>
  <dcterms:modified xsi:type="dcterms:W3CDTF">2026-07-01T16:04:33Z</dcterms:modified>
  <cp:category/>
</cp:coreProperties>
</file>